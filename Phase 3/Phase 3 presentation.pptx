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3" r:id="rId1"/>
  </p:sldMasterIdLst>
  <p:sldIdLst>
    <p:sldId id="256" r:id="rId2"/>
    <p:sldId id="261" r:id="rId3"/>
    <p:sldId id="260" r:id="rId4"/>
    <p:sldId id="291" r:id="rId5"/>
    <p:sldId id="257" r:id="rId6"/>
    <p:sldId id="258" r:id="rId7"/>
    <p:sldId id="263" r:id="rId8"/>
    <p:sldId id="267" r:id="rId9"/>
    <p:sldId id="275" r:id="rId10"/>
    <p:sldId id="259" r:id="rId11"/>
    <p:sldId id="262" r:id="rId12"/>
    <p:sldId id="282" r:id="rId13"/>
    <p:sldId id="283" r:id="rId14"/>
    <p:sldId id="286" r:id="rId15"/>
    <p:sldId id="285" r:id="rId16"/>
    <p:sldId id="279" r:id="rId17"/>
    <p:sldId id="284" r:id="rId18"/>
    <p:sldId id="290" r:id="rId19"/>
    <p:sldId id="287" r:id="rId20"/>
    <p:sldId id="288" r:id="rId21"/>
    <p:sldId id="289" r:id="rId22"/>
    <p:sldId id="280" r:id="rId23"/>
    <p:sldId id="281"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98" d="100"/>
          <a:sy n="98" d="100"/>
        </p:scale>
        <p:origin x="110"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userId="206c37bf929fff92" providerId="LiveId" clId="{FD4AEC41-DE7F-4A28-8E1C-F7A5D1001A07}"/>
    <pc:docChg chg="undo custSel addSld modSld sldOrd">
      <pc:chgData name="" userId="206c37bf929fff92" providerId="LiveId" clId="{FD4AEC41-DE7F-4A28-8E1C-F7A5D1001A07}" dt="2024-11-09T11:18:03.504" v="1548" actId="12"/>
      <pc:docMkLst>
        <pc:docMk/>
      </pc:docMkLst>
      <pc:sldChg chg="modSp">
        <pc:chgData name="" userId="206c37bf929fff92" providerId="LiveId" clId="{FD4AEC41-DE7F-4A28-8E1C-F7A5D1001A07}" dt="2024-11-09T10:34:37.964" v="714" actId="1076"/>
        <pc:sldMkLst>
          <pc:docMk/>
          <pc:sldMk cId="2363310755" sldId="262"/>
        </pc:sldMkLst>
        <pc:graphicFrameChg chg="mod">
          <ac:chgData name="" userId="206c37bf929fff92" providerId="LiveId" clId="{FD4AEC41-DE7F-4A28-8E1C-F7A5D1001A07}" dt="2024-11-09T10:34:37.964" v="714" actId="1076"/>
          <ac:graphicFrameMkLst>
            <pc:docMk/>
            <pc:sldMk cId="2363310755" sldId="262"/>
            <ac:graphicFrameMk id="5" creationId="{F876CAE6-5307-4AE8-84BB-F89CE59217F0}"/>
          </ac:graphicFrameMkLst>
        </pc:graphicFrameChg>
      </pc:sldChg>
      <pc:sldChg chg="modSp">
        <pc:chgData name="" userId="206c37bf929fff92" providerId="LiveId" clId="{FD4AEC41-DE7F-4A28-8E1C-F7A5D1001A07}" dt="2024-11-09T11:13:48.349" v="1290" actId="12"/>
        <pc:sldMkLst>
          <pc:docMk/>
          <pc:sldMk cId="2118755218" sldId="275"/>
        </pc:sldMkLst>
        <pc:spChg chg="mod">
          <ac:chgData name="" userId="206c37bf929fff92" providerId="LiveId" clId="{FD4AEC41-DE7F-4A28-8E1C-F7A5D1001A07}" dt="2024-11-09T11:13:40.547" v="1289" actId="20577"/>
          <ac:spMkLst>
            <pc:docMk/>
            <pc:sldMk cId="2118755218" sldId="275"/>
            <ac:spMk id="2" creationId="{208AF30D-71CA-4597-95E2-20FC97CD92E4}"/>
          </ac:spMkLst>
        </pc:spChg>
        <pc:spChg chg="mod">
          <ac:chgData name="" userId="206c37bf929fff92" providerId="LiveId" clId="{FD4AEC41-DE7F-4A28-8E1C-F7A5D1001A07}" dt="2024-11-09T11:13:48.349" v="1290" actId="12"/>
          <ac:spMkLst>
            <pc:docMk/>
            <pc:sldMk cId="2118755218" sldId="275"/>
            <ac:spMk id="4" creationId="{057787E0-211B-4E96-A140-BA8510CBAE36}"/>
          </ac:spMkLst>
        </pc:spChg>
      </pc:sldChg>
      <pc:sldChg chg="modSp">
        <pc:chgData name="" userId="206c37bf929fff92" providerId="LiveId" clId="{FD4AEC41-DE7F-4A28-8E1C-F7A5D1001A07}" dt="2024-11-09T11:18:03.504" v="1548" actId="12"/>
        <pc:sldMkLst>
          <pc:docMk/>
          <pc:sldMk cId="1945976451" sldId="279"/>
        </pc:sldMkLst>
        <pc:spChg chg="mod">
          <ac:chgData name="" userId="206c37bf929fff92" providerId="LiveId" clId="{FD4AEC41-DE7F-4A28-8E1C-F7A5D1001A07}" dt="2024-11-08T17:39:54.617" v="447" actId="255"/>
          <ac:spMkLst>
            <pc:docMk/>
            <pc:sldMk cId="1945976451" sldId="279"/>
            <ac:spMk id="2" creationId="{FD6FD0A2-35ED-4078-B9FF-4BD83EEEFA78}"/>
          </ac:spMkLst>
        </pc:spChg>
        <pc:spChg chg="mod">
          <ac:chgData name="" userId="206c37bf929fff92" providerId="LiveId" clId="{FD4AEC41-DE7F-4A28-8E1C-F7A5D1001A07}" dt="2024-11-09T11:18:03.504" v="1548" actId="12"/>
          <ac:spMkLst>
            <pc:docMk/>
            <pc:sldMk cId="1945976451" sldId="279"/>
            <ac:spMk id="3" creationId="{9EC9ED15-7E61-4B07-94D6-7E2D14959059}"/>
          </ac:spMkLst>
        </pc:spChg>
      </pc:sldChg>
      <pc:sldChg chg="modSp ord">
        <pc:chgData name="" userId="206c37bf929fff92" providerId="LiveId" clId="{FD4AEC41-DE7F-4A28-8E1C-F7A5D1001A07}" dt="2024-11-09T11:17:49.322" v="1547" actId="14100"/>
        <pc:sldMkLst>
          <pc:docMk/>
          <pc:sldMk cId="2930027410" sldId="280"/>
        </pc:sldMkLst>
        <pc:spChg chg="mod">
          <ac:chgData name="" userId="206c37bf929fff92" providerId="LiveId" clId="{FD4AEC41-DE7F-4A28-8E1C-F7A5D1001A07}" dt="2024-11-09T11:17:49.322" v="1547" actId="14100"/>
          <ac:spMkLst>
            <pc:docMk/>
            <pc:sldMk cId="2930027410" sldId="280"/>
            <ac:spMk id="2" creationId="{F25465C2-0DF4-420D-8588-A039CB83A484}"/>
          </ac:spMkLst>
        </pc:spChg>
        <pc:spChg chg="mod">
          <ac:chgData name="" userId="206c37bf929fff92" providerId="LiveId" clId="{FD4AEC41-DE7F-4A28-8E1C-F7A5D1001A07}" dt="2024-11-09T11:17:23.885" v="1530" actId="12"/>
          <ac:spMkLst>
            <pc:docMk/>
            <pc:sldMk cId="2930027410" sldId="280"/>
            <ac:spMk id="3" creationId="{A2A33619-BB21-4C04-AF38-87215CC637C2}"/>
          </ac:spMkLst>
        </pc:spChg>
      </pc:sldChg>
      <pc:sldChg chg="modSp">
        <pc:chgData name="" userId="206c37bf929fff92" providerId="LiveId" clId="{FD4AEC41-DE7F-4A28-8E1C-F7A5D1001A07}" dt="2024-11-09T11:15:18.901" v="1398" actId="20577"/>
        <pc:sldMkLst>
          <pc:docMk/>
          <pc:sldMk cId="537207401" sldId="281"/>
        </pc:sldMkLst>
        <pc:spChg chg="mod">
          <ac:chgData name="" userId="206c37bf929fff92" providerId="LiveId" clId="{FD4AEC41-DE7F-4A28-8E1C-F7A5D1001A07}" dt="2024-11-09T11:15:18.901" v="1398" actId="20577"/>
          <ac:spMkLst>
            <pc:docMk/>
            <pc:sldMk cId="537207401" sldId="281"/>
            <ac:spMk id="3" creationId="{C5AB152F-DA78-48E3-9ECF-49B5829EBC5A}"/>
          </ac:spMkLst>
        </pc:spChg>
      </pc:sldChg>
      <pc:sldChg chg="modSp">
        <pc:chgData name="" userId="206c37bf929fff92" providerId="LiveId" clId="{FD4AEC41-DE7F-4A28-8E1C-F7A5D1001A07}" dt="2024-11-08T18:35:28.144" v="501" actId="1076"/>
        <pc:sldMkLst>
          <pc:docMk/>
          <pc:sldMk cId="11892099" sldId="282"/>
        </pc:sldMkLst>
        <pc:graphicFrameChg chg="mod">
          <ac:chgData name="" userId="206c37bf929fff92" providerId="LiveId" clId="{FD4AEC41-DE7F-4A28-8E1C-F7A5D1001A07}" dt="2024-11-08T18:35:25.044" v="500" actId="1076"/>
          <ac:graphicFrameMkLst>
            <pc:docMk/>
            <pc:sldMk cId="11892099" sldId="282"/>
            <ac:graphicFrameMk id="4" creationId="{40B1508C-50C1-4B4F-A7C3-510E28C9FB87}"/>
          </ac:graphicFrameMkLst>
        </pc:graphicFrameChg>
        <pc:graphicFrameChg chg="mod">
          <ac:chgData name="" userId="206c37bf929fff92" providerId="LiveId" clId="{FD4AEC41-DE7F-4A28-8E1C-F7A5D1001A07}" dt="2024-11-08T18:35:28.144" v="501" actId="1076"/>
          <ac:graphicFrameMkLst>
            <pc:docMk/>
            <pc:sldMk cId="11892099" sldId="282"/>
            <ac:graphicFrameMk id="5" creationId="{8F34EC66-8A1D-4AFB-8392-F9E3EC1D6720}"/>
          </ac:graphicFrameMkLst>
        </pc:graphicFrameChg>
      </pc:sldChg>
      <pc:sldChg chg="modSp">
        <pc:chgData name="" userId="206c37bf929fff92" providerId="LiveId" clId="{FD4AEC41-DE7F-4A28-8E1C-F7A5D1001A07}" dt="2024-11-08T18:28:28.807" v="490" actId="14734"/>
        <pc:sldMkLst>
          <pc:docMk/>
          <pc:sldMk cId="4140475458" sldId="284"/>
        </pc:sldMkLst>
        <pc:graphicFrameChg chg="modGraphic">
          <ac:chgData name="" userId="206c37bf929fff92" providerId="LiveId" clId="{FD4AEC41-DE7F-4A28-8E1C-F7A5D1001A07}" dt="2024-11-08T18:28:28.807" v="490" actId="14734"/>
          <ac:graphicFrameMkLst>
            <pc:docMk/>
            <pc:sldMk cId="4140475458" sldId="284"/>
            <ac:graphicFrameMk id="2" creationId="{4E5453F9-F75C-499C-84B0-10D57CD994A9}"/>
          </ac:graphicFrameMkLst>
        </pc:graphicFrameChg>
      </pc:sldChg>
      <pc:sldChg chg="addSp modSp add mod">
        <pc:chgData name="" userId="206c37bf929fff92" providerId="LiveId" clId="{FD4AEC41-DE7F-4A28-8E1C-F7A5D1001A07}" dt="2024-11-08T18:14:46.883" v="453" actId="1076"/>
        <pc:sldMkLst>
          <pc:docMk/>
          <pc:sldMk cId="4223876650" sldId="287"/>
        </pc:sldMkLst>
        <pc:graphicFrameChg chg="add mod">
          <ac:chgData name="" userId="206c37bf929fff92" providerId="LiveId" clId="{FD4AEC41-DE7F-4A28-8E1C-F7A5D1001A07}" dt="2024-11-08T18:14:46.883" v="453" actId="1076"/>
          <ac:graphicFrameMkLst>
            <pc:docMk/>
            <pc:sldMk cId="4223876650" sldId="287"/>
            <ac:graphicFrameMk id="2" creationId="{377E04E3-186E-4649-84BC-A526025EB0DE}"/>
          </ac:graphicFrameMkLst>
        </pc:graphicFrameChg>
      </pc:sldChg>
      <pc:sldChg chg="addSp modSp add mod">
        <pc:chgData name="" userId="206c37bf929fff92" providerId="LiveId" clId="{FD4AEC41-DE7F-4A28-8E1C-F7A5D1001A07}" dt="2024-11-08T18:22:45.541" v="466" actId="1076"/>
        <pc:sldMkLst>
          <pc:docMk/>
          <pc:sldMk cId="2342343641" sldId="288"/>
        </pc:sldMkLst>
        <pc:graphicFrameChg chg="add mod">
          <ac:chgData name="" userId="206c37bf929fff92" providerId="LiveId" clId="{FD4AEC41-DE7F-4A28-8E1C-F7A5D1001A07}" dt="2024-11-08T18:19:15.873" v="457" actId="1076"/>
          <ac:graphicFrameMkLst>
            <pc:docMk/>
            <pc:sldMk cId="2342343641" sldId="288"/>
            <ac:graphicFrameMk id="2" creationId="{A0970AEE-0DBE-4C84-8AD5-5C7F2693E193}"/>
          </ac:graphicFrameMkLst>
        </pc:graphicFrameChg>
        <pc:graphicFrameChg chg="add mod">
          <ac:chgData name="" userId="206c37bf929fff92" providerId="LiveId" clId="{FD4AEC41-DE7F-4A28-8E1C-F7A5D1001A07}" dt="2024-11-08T18:20:28.972" v="460" actId="1076"/>
          <ac:graphicFrameMkLst>
            <pc:docMk/>
            <pc:sldMk cId="2342343641" sldId="288"/>
            <ac:graphicFrameMk id="3" creationId="{D0CC4337-2BB0-4994-9C77-92A31C8146EA}"/>
          </ac:graphicFrameMkLst>
        </pc:graphicFrameChg>
        <pc:graphicFrameChg chg="add mod">
          <ac:chgData name="" userId="206c37bf929fff92" providerId="LiveId" clId="{FD4AEC41-DE7F-4A28-8E1C-F7A5D1001A07}" dt="2024-11-08T18:21:42.797" v="463" actId="1076"/>
          <ac:graphicFrameMkLst>
            <pc:docMk/>
            <pc:sldMk cId="2342343641" sldId="288"/>
            <ac:graphicFrameMk id="4" creationId="{AFAEDA79-3722-4771-B98D-F17EB12D09C4}"/>
          </ac:graphicFrameMkLst>
        </pc:graphicFrameChg>
        <pc:graphicFrameChg chg="add mod">
          <ac:chgData name="" userId="206c37bf929fff92" providerId="LiveId" clId="{FD4AEC41-DE7F-4A28-8E1C-F7A5D1001A07}" dt="2024-11-08T18:22:45.541" v="466" actId="1076"/>
          <ac:graphicFrameMkLst>
            <pc:docMk/>
            <pc:sldMk cId="2342343641" sldId="288"/>
            <ac:graphicFrameMk id="5" creationId="{4322FC22-527D-4ACC-A979-AB0628414409}"/>
          </ac:graphicFrameMkLst>
        </pc:graphicFrameChg>
      </pc:sldChg>
      <pc:sldChg chg="addSp modSp add mod">
        <pc:chgData name="" userId="206c37bf929fff92" providerId="LiveId" clId="{FD4AEC41-DE7F-4A28-8E1C-F7A5D1001A07}" dt="2024-11-08T18:24:51.084" v="472" actId="20577"/>
        <pc:sldMkLst>
          <pc:docMk/>
          <pc:sldMk cId="354869160" sldId="289"/>
        </pc:sldMkLst>
        <pc:graphicFrameChg chg="add mod">
          <ac:chgData name="" userId="206c37bf929fff92" providerId="LiveId" clId="{FD4AEC41-DE7F-4A28-8E1C-F7A5D1001A07}" dt="2024-11-08T18:24:51.084" v="472" actId="20577"/>
          <ac:graphicFrameMkLst>
            <pc:docMk/>
            <pc:sldMk cId="354869160" sldId="289"/>
            <ac:graphicFrameMk id="2" creationId="{8CFD4A6C-DEEF-4C7A-A68F-2C9042E92DA5}"/>
          </ac:graphicFrameMkLst>
        </pc:graphicFrameChg>
      </pc:sldChg>
      <pc:sldChg chg="addSp modSp add">
        <pc:chgData name="" userId="206c37bf929fff92" providerId="LiveId" clId="{FD4AEC41-DE7F-4A28-8E1C-F7A5D1001A07}" dt="2024-11-08T18:30:25.308" v="499" actId="20577"/>
        <pc:sldMkLst>
          <pc:docMk/>
          <pc:sldMk cId="1847767334" sldId="290"/>
        </pc:sldMkLst>
        <pc:spChg chg="add">
          <ac:chgData name="" userId="206c37bf929fff92" providerId="LiveId" clId="{FD4AEC41-DE7F-4A28-8E1C-F7A5D1001A07}" dt="2024-11-08T18:25:31.458" v="474"/>
          <ac:spMkLst>
            <pc:docMk/>
            <pc:sldMk cId="1847767334" sldId="290"/>
            <ac:spMk id="3" creationId="{E82C1396-7552-49F1-B49E-675BD0DF9074}"/>
          </ac:spMkLst>
        </pc:spChg>
        <pc:graphicFrameChg chg="add mod modGraphic">
          <ac:chgData name="" userId="206c37bf929fff92" providerId="LiveId" clId="{FD4AEC41-DE7F-4A28-8E1C-F7A5D1001A07}" dt="2024-11-08T18:30:25.308" v="499" actId="20577"/>
          <ac:graphicFrameMkLst>
            <pc:docMk/>
            <pc:sldMk cId="1847767334" sldId="290"/>
            <ac:graphicFrameMk id="2" creationId="{25669790-8D5A-43A5-9F92-1262F6224A6E}"/>
          </ac:graphicFrameMkLst>
        </pc:graphicFrameChg>
      </pc:sldChg>
      <pc:sldChg chg="addSp delSp modSp add">
        <pc:chgData name="" userId="206c37bf929fff92" providerId="LiveId" clId="{FD4AEC41-DE7F-4A28-8E1C-F7A5D1001A07}" dt="2024-11-09T10:54:59.961" v="1120" actId="12"/>
        <pc:sldMkLst>
          <pc:docMk/>
          <pc:sldMk cId="1844941798" sldId="291"/>
        </pc:sldMkLst>
        <pc:spChg chg="mod">
          <ac:chgData name="" userId="206c37bf929fff92" providerId="LiveId" clId="{FD4AEC41-DE7F-4A28-8E1C-F7A5D1001A07}" dt="2024-11-09T10:43:57.030" v="735" actId="20577"/>
          <ac:spMkLst>
            <pc:docMk/>
            <pc:sldMk cId="1844941798" sldId="291"/>
            <ac:spMk id="2" creationId="{0E07685C-B319-44E2-8945-3B0CC0D6664A}"/>
          </ac:spMkLst>
        </pc:spChg>
        <pc:spChg chg="add del mod">
          <ac:chgData name="" userId="206c37bf929fff92" providerId="LiveId" clId="{FD4AEC41-DE7F-4A28-8E1C-F7A5D1001A07}" dt="2024-11-09T10:54:59.961" v="1120" actId="12"/>
          <ac:spMkLst>
            <pc:docMk/>
            <pc:sldMk cId="1844941798" sldId="291"/>
            <ac:spMk id="3" creationId="{4C511D7F-74DF-425D-94D1-BDBB49F50940}"/>
          </ac:spMkLst>
        </pc:spChg>
        <pc:picChg chg="add mod">
          <ac:chgData name="" userId="206c37bf929fff92" providerId="LiveId" clId="{FD4AEC41-DE7F-4A28-8E1C-F7A5D1001A07}" dt="2024-11-09T10:51:19.420" v="960" actId="1076"/>
          <ac:picMkLst>
            <pc:docMk/>
            <pc:sldMk cId="1844941798" sldId="291"/>
            <ac:picMk id="4" creationId="{D8554290-6C31-4F2D-A805-FDA92422FEC2}"/>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9.xml"/><Relationship Id="rId1" Type="http://schemas.microsoft.com/office/2011/relationships/chartStyle" Target="style1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 Function</a:t>
            </a:r>
            <a:r>
              <a:rPr lang="en-US" baseline="0"/>
              <a:t> </a:t>
            </a:r>
            <a:r>
              <a:rPr lang="en-US"/>
              <a:t>evaluation vs sequence</a:t>
            </a:r>
          </a:p>
        </c:rich>
      </c:tx>
      <c:layout>
        <c:manualLayout>
          <c:xMode val="edge"/>
          <c:yMode val="edge"/>
          <c:x val="0.26006233595800532"/>
          <c:y val="4.6296296296296294E-3"/>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Sheet1!$B$1</c:f>
              <c:strCache>
                <c:ptCount val="1"/>
                <c:pt idx="0">
                  <c:v> Function_evaluation</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Sheet1!$A$2:$A$7</c:f>
              <c:numCache>
                <c:formatCode>General</c:formatCode>
                <c:ptCount val="6"/>
                <c:pt idx="0">
                  <c:v>1</c:v>
                </c:pt>
                <c:pt idx="1">
                  <c:v>2</c:v>
                </c:pt>
                <c:pt idx="2">
                  <c:v>3</c:v>
                </c:pt>
                <c:pt idx="3">
                  <c:v>4</c:v>
                </c:pt>
                <c:pt idx="4">
                  <c:v>5</c:v>
                </c:pt>
                <c:pt idx="5">
                  <c:v>6</c:v>
                </c:pt>
              </c:numCache>
            </c:numRef>
          </c:xVal>
          <c:yVal>
            <c:numRef>
              <c:f>Sheet1!$B$2:$B$7</c:f>
              <c:numCache>
                <c:formatCode>General</c:formatCode>
                <c:ptCount val="6"/>
                <c:pt idx="0">
                  <c:v>978</c:v>
                </c:pt>
                <c:pt idx="1">
                  <c:v>218</c:v>
                </c:pt>
                <c:pt idx="2">
                  <c:v>98</c:v>
                </c:pt>
                <c:pt idx="3">
                  <c:v>98</c:v>
                </c:pt>
                <c:pt idx="4">
                  <c:v>218</c:v>
                </c:pt>
                <c:pt idx="5">
                  <c:v>178</c:v>
                </c:pt>
              </c:numCache>
            </c:numRef>
          </c:yVal>
          <c:smooth val="0"/>
          <c:extLst>
            <c:ext xmlns:c16="http://schemas.microsoft.com/office/drawing/2014/chart" uri="{C3380CC4-5D6E-409C-BE32-E72D297353CC}">
              <c16:uniqueId val="{00000000-FC21-49CA-AA6B-18D1D553099D}"/>
            </c:ext>
          </c:extLst>
        </c:ser>
        <c:dLbls>
          <c:dLblPos val="t"/>
          <c:showLegendKey val="0"/>
          <c:showVal val="1"/>
          <c:showCatName val="0"/>
          <c:showSerName val="0"/>
          <c:showPercent val="0"/>
          <c:showBubbleSize val="0"/>
        </c:dLbls>
        <c:axId val="1389644527"/>
        <c:axId val="1288996895"/>
      </c:scatterChart>
      <c:valAx>
        <c:axId val="1389644527"/>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Sequence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88996895"/>
        <c:crosses val="autoZero"/>
        <c:crossBetween val="midCat"/>
      </c:valAx>
      <c:valAx>
        <c:axId val="1288996895"/>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Function</a:t>
                </a:r>
                <a:r>
                  <a:rPr lang="en-IN" baseline="0"/>
                  <a:t> evaluatioms</a:t>
                </a:r>
                <a:endParaRPr lang="en-IN"/>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89644527"/>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Sequence</a:t>
            </a:r>
            <a:r>
              <a:rPr lang="en-IN" baseline="0"/>
              <a:t> 1</a:t>
            </a:r>
            <a:endParaRPr lang="en-IN"/>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Sheet1!$A$1:$A$99</c:f>
              <c:numCache>
                <c:formatCode>General</c:formatCode>
                <c:ptCount val="9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numCache>
            </c:numRef>
          </c:xVal>
          <c:yVal>
            <c:numRef>
              <c:f>Sheet1!$B$1:$B$99</c:f>
              <c:numCache>
                <c:formatCode>General</c:formatCode>
                <c:ptCount val="99"/>
                <c:pt idx="0">
                  <c:v>37631.643807</c:v>
                </c:pt>
                <c:pt idx="1">
                  <c:v>8143.6382160000003</c:v>
                </c:pt>
                <c:pt idx="2">
                  <c:v>1652.4846849999999</c:v>
                </c:pt>
                <c:pt idx="3">
                  <c:v>320.55887899999999</c:v>
                </c:pt>
                <c:pt idx="4">
                  <c:v>61.193486999999998</c:v>
                </c:pt>
                <c:pt idx="5">
                  <c:v>12.51338</c:v>
                </c:pt>
                <c:pt idx="6">
                  <c:v>3.522564</c:v>
                </c:pt>
                <c:pt idx="7">
                  <c:v>1.8053170000000001</c:v>
                </c:pt>
                <c:pt idx="8">
                  <c:v>1.4032530000000001</c:v>
                </c:pt>
                <c:pt idx="9">
                  <c:v>1.1119049999999999</c:v>
                </c:pt>
                <c:pt idx="10">
                  <c:v>1.4059200000000001</c:v>
                </c:pt>
                <c:pt idx="11">
                  <c:v>1.0435300000000001</c:v>
                </c:pt>
                <c:pt idx="12">
                  <c:v>1.3624830000000001</c:v>
                </c:pt>
                <c:pt idx="13">
                  <c:v>-15.118002000000001</c:v>
                </c:pt>
                <c:pt idx="14">
                  <c:v>-1.0719510000000001</c:v>
                </c:pt>
                <c:pt idx="15">
                  <c:v>0.88499499999999998</c:v>
                </c:pt>
                <c:pt idx="16">
                  <c:v>0.55128299999999997</c:v>
                </c:pt>
                <c:pt idx="17">
                  <c:v>1.7229639999999999</c:v>
                </c:pt>
                <c:pt idx="18">
                  <c:v>1.3699490000000001</c:v>
                </c:pt>
                <c:pt idx="19">
                  <c:v>1.060638</c:v>
                </c:pt>
                <c:pt idx="20">
                  <c:v>1.264845</c:v>
                </c:pt>
                <c:pt idx="21">
                  <c:v>-106.15531</c:v>
                </c:pt>
                <c:pt idx="22">
                  <c:v>-12.707476</c:v>
                </c:pt>
                <c:pt idx="23">
                  <c:v>-0.77231399999999994</c:v>
                </c:pt>
                <c:pt idx="24">
                  <c:v>0.92606699999999997</c:v>
                </c:pt>
                <c:pt idx="25">
                  <c:v>1.4627399999999999</c:v>
                </c:pt>
                <c:pt idx="26">
                  <c:v>2.923718</c:v>
                </c:pt>
                <c:pt idx="27">
                  <c:v>1.5910820000000001</c:v>
                </c:pt>
                <c:pt idx="28">
                  <c:v>6.3298139999999998</c:v>
                </c:pt>
                <c:pt idx="29">
                  <c:v>-1273.278127</c:v>
                </c:pt>
                <c:pt idx="30">
                  <c:v>-160.70518000000001</c:v>
                </c:pt>
                <c:pt idx="31">
                  <c:v>-19.605744000000001</c:v>
                </c:pt>
                <c:pt idx="32">
                  <c:v>-1.639119</c:v>
                </c:pt>
                <c:pt idx="33">
                  <c:v>-0.487902</c:v>
                </c:pt>
                <c:pt idx="34">
                  <c:v>1.019442</c:v>
                </c:pt>
                <c:pt idx="35">
                  <c:v>1.5293369999999999</c:v>
                </c:pt>
                <c:pt idx="36">
                  <c:v>1.2993269999999999</c:v>
                </c:pt>
                <c:pt idx="37">
                  <c:v>-5949.0438400000003</c:v>
                </c:pt>
                <c:pt idx="38">
                  <c:v>-739.96371699999997</c:v>
                </c:pt>
                <c:pt idx="39">
                  <c:v>-90.972971000000001</c:v>
                </c:pt>
                <c:pt idx="40">
                  <c:v>-10.097721</c:v>
                </c:pt>
                <c:pt idx="41">
                  <c:v>-7.8758999999999996E-2</c:v>
                </c:pt>
                <c:pt idx="42">
                  <c:v>1.098487</c:v>
                </c:pt>
                <c:pt idx="43">
                  <c:v>0.71258100000000002</c:v>
                </c:pt>
                <c:pt idx="44">
                  <c:v>1.201044</c:v>
                </c:pt>
                <c:pt idx="45">
                  <c:v>1.7910740000000001</c:v>
                </c:pt>
                <c:pt idx="46">
                  <c:v>1.3334189999999999</c:v>
                </c:pt>
                <c:pt idx="47">
                  <c:v>124.551805</c:v>
                </c:pt>
                <c:pt idx="48">
                  <c:v>17.469000000000001</c:v>
                </c:pt>
                <c:pt idx="49">
                  <c:v>3.6161970000000001</c:v>
                </c:pt>
                <c:pt idx="50">
                  <c:v>1.6944630000000001</c:v>
                </c:pt>
                <c:pt idx="51">
                  <c:v>1.3988590000000001</c:v>
                </c:pt>
                <c:pt idx="52">
                  <c:v>0.53850200000000004</c:v>
                </c:pt>
                <c:pt idx="53">
                  <c:v>0.99433700000000003</c:v>
                </c:pt>
                <c:pt idx="54">
                  <c:v>1.365043</c:v>
                </c:pt>
                <c:pt idx="55">
                  <c:v>1.0791809999999999</c:v>
                </c:pt>
                <c:pt idx="56">
                  <c:v>-0.44275799999999998</c:v>
                </c:pt>
                <c:pt idx="57">
                  <c:v>-8.7828060000000008</c:v>
                </c:pt>
                <c:pt idx="58">
                  <c:v>-0.22014400000000001</c:v>
                </c:pt>
                <c:pt idx="59">
                  <c:v>1.0161420000000001</c:v>
                </c:pt>
                <c:pt idx="60">
                  <c:v>1.4212100000000001</c:v>
                </c:pt>
                <c:pt idx="61">
                  <c:v>4603.7452169999997</c:v>
                </c:pt>
                <c:pt idx="62">
                  <c:v>1619.92561</c:v>
                </c:pt>
                <c:pt idx="63">
                  <c:v>205.206853</c:v>
                </c:pt>
                <c:pt idx="64">
                  <c:v>27.459022000000001</c:v>
                </c:pt>
                <c:pt idx="65">
                  <c:v>4.8849749999999998</c:v>
                </c:pt>
                <c:pt idx="66">
                  <c:v>1.8734569999999999</c:v>
                </c:pt>
                <c:pt idx="67">
                  <c:v>1.350241</c:v>
                </c:pt>
                <c:pt idx="68">
                  <c:v>3126.1301480000002</c:v>
                </c:pt>
                <c:pt idx="69">
                  <c:v>394.15686599999998</c:v>
                </c:pt>
                <c:pt idx="70">
                  <c:v>51.292104000000002</c:v>
                </c:pt>
                <c:pt idx="71">
                  <c:v>8.2053410000000007</c:v>
                </c:pt>
                <c:pt idx="72">
                  <c:v>2.3769480000000001</c:v>
                </c:pt>
                <c:pt idx="73">
                  <c:v>1.4951909999999999</c:v>
                </c:pt>
                <c:pt idx="74">
                  <c:v>7.0930669999999996</c:v>
                </c:pt>
                <c:pt idx="75">
                  <c:v>2.8432029999999999</c:v>
                </c:pt>
                <c:pt idx="76">
                  <c:v>1.5623260000000001</c:v>
                </c:pt>
                <c:pt idx="77">
                  <c:v>1.2070479999999999</c:v>
                </c:pt>
                <c:pt idx="78">
                  <c:v>1.4481189999999999</c:v>
                </c:pt>
                <c:pt idx="79">
                  <c:v>1.2626539999999999</c:v>
                </c:pt>
                <c:pt idx="80">
                  <c:v>1.600427</c:v>
                </c:pt>
                <c:pt idx="81">
                  <c:v>0.74712199999999995</c:v>
                </c:pt>
                <c:pt idx="82">
                  <c:v>-12.33769</c:v>
                </c:pt>
                <c:pt idx="83">
                  <c:v>-0.68901100000000004</c:v>
                </c:pt>
                <c:pt idx="84">
                  <c:v>0.95011500000000004</c:v>
                </c:pt>
                <c:pt idx="85">
                  <c:v>1.20638</c:v>
                </c:pt>
                <c:pt idx="86">
                  <c:v>2.8524039999999999</c:v>
                </c:pt>
                <c:pt idx="87">
                  <c:v>1.945559</c:v>
                </c:pt>
                <c:pt idx="88">
                  <c:v>1.3682799999999999</c:v>
                </c:pt>
                <c:pt idx="89">
                  <c:v>-168.69102899999999</c:v>
                </c:pt>
                <c:pt idx="90">
                  <c:v>-20.628174000000001</c:v>
                </c:pt>
                <c:pt idx="91">
                  <c:v>-231.33145099999999</c:v>
                </c:pt>
                <c:pt idx="92">
                  <c:v>-28.129921</c:v>
                </c:pt>
                <c:pt idx="93">
                  <c:v>-2.5144989999999998</c:v>
                </c:pt>
                <c:pt idx="94">
                  <c:v>0.97426800000000002</c:v>
                </c:pt>
                <c:pt idx="95">
                  <c:v>1.1689229999999999</c:v>
                </c:pt>
                <c:pt idx="96">
                  <c:v>2.3967100000000001</c:v>
                </c:pt>
                <c:pt idx="97">
                  <c:v>1.5432490000000001</c:v>
                </c:pt>
                <c:pt idx="98">
                  <c:v>1.262413</c:v>
                </c:pt>
              </c:numCache>
            </c:numRef>
          </c:yVal>
          <c:smooth val="0"/>
          <c:extLst>
            <c:ext xmlns:c16="http://schemas.microsoft.com/office/drawing/2014/chart" uri="{C3380CC4-5D6E-409C-BE32-E72D297353CC}">
              <c16:uniqueId val="{00000000-663A-40EA-A8E8-9D9B55A82E20}"/>
            </c:ext>
          </c:extLst>
        </c:ser>
        <c:dLbls>
          <c:showLegendKey val="0"/>
          <c:showVal val="0"/>
          <c:showCatName val="0"/>
          <c:showSerName val="0"/>
          <c:showPercent val="0"/>
          <c:showBubbleSize val="0"/>
        </c:dLbls>
        <c:axId val="1281448639"/>
        <c:axId val="1280154543"/>
      </c:scatterChart>
      <c:valAx>
        <c:axId val="1281448639"/>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Iterations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80154543"/>
        <c:crosses val="autoZero"/>
        <c:crossBetween val="midCat"/>
      </c:valAx>
      <c:valAx>
        <c:axId val="128015454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P(x)</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81448639"/>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Sequence 2</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Sheet1!$A$100:$A$106</c:f>
              <c:numCache>
                <c:formatCode>General</c:formatCode>
                <c:ptCount val="7"/>
                <c:pt idx="0">
                  <c:v>1</c:v>
                </c:pt>
                <c:pt idx="1">
                  <c:v>2</c:v>
                </c:pt>
                <c:pt idx="2">
                  <c:v>3</c:v>
                </c:pt>
                <c:pt idx="3">
                  <c:v>4</c:v>
                </c:pt>
                <c:pt idx="4">
                  <c:v>5</c:v>
                </c:pt>
                <c:pt idx="5">
                  <c:v>6</c:v>
                </c:pt>
                <c:pt idx="6">
                  <c:v>7</c:v>
                </c:pt>
              </c:numCache>
            </c:numRef>
          </c:xVal>
          <c:yVal>
            <c:numRef>
              <c:f>Sheet1!$B$100:$B$106</c:f>
              <c:numCache>
                <c:formatCode>General</c:formatCode>
                <c:ptCount val="7"/>
                <c:pt idx="0">
                  <c:v>12.130041</c:v>
                </c:pt>
                <c:pt idx="1">
                  <c:v>11.634528</c:v>
                </c:pt>
                <c:pt idx="2">
                  <c:v>10.608178000000001</c:v>
                </c:pt>
                <c:pt idx="3">
                  <c:v>7.8842439999999998</c:v>
                </c:pt>
                <c:pt idx="4">
                  <c:v>-106.263036</c:v>
                </c:pt>
                <c:pt idx="5">
                  <c:v>-3.818451</c:v>
                </c:pt>
                <c:pt idx="6">
                  <c:v>10.971467000000001</c:v>
                </c:pt>
              </c:numCache>
            </c:numRef>
          </c:yVal>
          <c:smooth val="0"/>
          <c:extLst>
            <c:ext xmlns:c16="http://schemas.microsoft.com/office/drawing/2014/chart" uri="{C3380CC4-5D6E-409C-BE32-E72D297353CC}">
              <c16:uniqueId val="{00000000-8D01-4CAD-A2E3-DC154753CB7C}"/>
            </c:ext>
          </c:extLst>
        </c:ser>
        <c:dLbls>
          <c:showLegendKey val="0"/>
          <c:showVal val="0"/>
          <c:showCatName val="0"/>
          <c:showSerName val="0"/>
          <c:showPercent val="0"/>
          <c:showBubbleSize val="0"/>
        </c:dLbls>
        <c:axId val="821325791"/>
        <c:axId val="820409823"/>
      </c:scatterChart>
      <c:valAx>
        <c:axId val="821325791"/>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Iterations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20409823"/>
        <c:crosses val="autoZero"/>
        <c:crossBetween val="midCat"/>
      </c:valAx>
      <c:valAx>
        <c:axId val="82040982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P(x)</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21325791"/>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Sequence 3</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spPr>
            <a:ln w="19050" cap="rnd">
              <a:solidFill>
                <a:schemeClr val="accent1"/>
              </a:solidFill>
              <a:round/>
            </a:ln>
            <a:effectLst/>
          </c:spPr>
          <c:marker>
            <c:symbol val="none"/>
          </c:marker>
          <c:xVal>
            <c:numRef>
              <c:f>Sheet1!$A$107:$A$109</c:f>
              <c:numCache>
                <c:formatCode>General</c:formatCode>
                <c:ptCount val="3"/>
                <c:pt idx="0">
                  <c:v>1</c:v>
                </c:pt>
                <c:pt idx="1">
                  <c:v>2</c:v>
                </c:pt>
                <c:pt idx="2">
                  <c:v>3</c:v>
                </c:pt>
              </c:numCache>
            </c:numRef>
          </c:xVal>
          <c:yVal>
            <c:numRef>
              <c:f>Sheet1!$B$107:$B$109</c:f>
              <c:numCache>
                <c:formatCode>General</c:formatCode>
                <c:ptCount val="3"/>
                <c:pt idx="0">
                  <c:v>74.869562000000002</c:v>
                </c:pt>
                <c:pt idx="1">
                  <c:v>44.612986999999997</c:v>
                </c:pt>
                <c:pt idx="2">
                  <c:v>-35.240065000000001</c:v>
                </c:pt>
              </c:numCache>
            </c:numRef>
          </c:yVal>
          <c:smooth val="0"/>
          <c:extLst>
            <c:ext xmlns:c16="http://schemas.microsoft.com/office/drawing/2014/chart" uri="{C3380CC4-5D6E-409C-BE32-E72D297353CC}">
              <c16:uniqueId val="{00000000-C555-42E2-A75F-3927E438376B}"/>
            </c:ext>
          </c:extLst>
        </c:ser>
        <c:dLbls>
          <c:showLegendKey val="0"/>
          <c:showVal val="0"/>
          <c:showCatName val="0"/>
          <c:showSerName val="0"/>
          <c:showPercent val="0"/>
          <c:showBubbleSize val="0"/>
        </c:dLbls>
        <c:axId val="1390383887"/>
        <c:axId val="1279740207"/>
      </c:scatterChart>
      <c:valAx>
        <c:axId val="1390383887"/>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Iterations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79740207"/>
        <c:crosses val="autoZero"/>
        <c:crossBetween val="midCat"/>
      </c:valAx>
      <c:valAx>
        <c:axId val="1279740207"/>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P(x)</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90383887"/>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Sequence 4</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spPr>
            <a:ln w="19050" cap="rnd">
              <a:solidFill>
                <a:schemeClr val="accent1"/>
              </a:solidFill>
              <a:round/>
            </a:ln>
            <a:effectLst/>
          </c:spPr>
          <c:marker>
            <c:symbol val="none"/>
          </c:marker>
          <c:xVal>
            <c:numRef>
              <c:f>Sheet1!$A$110:$A$112</c:f>
              <c:numCache>
                <c:formatCode>General</c:formatCode>
                <c:ptCount val="3"/>
                <c:pt idx="0">
                  <c:v>1</c:v>
                </c:pt>
                <c:pt idx="1">
                  <c:v>2</c:v>
                </c:pt>
                <c:pt idx="2">
                  <c:v>3</c:v>
                </c:pt>
              </c:numCache>
            </c:numRef>
          </c:xVal>
          <c:yVal>
            <c:numRef>
              <c:f>Sheet1!$B$110:$B$112</c:f>
              <c:numCache>
                <c:formatCode>General</c:formatCode>
                <c:ptCount val="3"/>
                <c:pt idx="0">
                  <c:v>-217.13287800000001</c:v>
                </c:pt>
                <c:pt idx="1">
                  <c:v>-301.80220500000001</c:v>
                </c:pt>
                <c:pt idx="2">
                  <c:v>-1013.8030230000001</c:v>
                </c:pt>
              </c:numCache>
            </c:numRef>
          </c:yVal>
          <c:smooth val="0"/>
          <c:extLst>
            <c:ext xmlns:c16="http://schemas.microsoft.com/office/drawing/2014/chart" uri="{C3380CC4-5D6E-409C-BE32-E72D297353CC}">
              <c16:uniqueId val="{00000000-488A-4104-90DA-C09E1EFA3C1E}"/>
            </c:ext>
          </c:extLst>
        </c:ser>
        <c:dLbls>
          <c:showLegendKey val="0"/>
          <c:showVal val="0"/>
          <c:showCatName val="0"/>
          <c:showSerName val="0"/>
          <c:showPercent val="0"/>
          <c:showBubbleSize val="0"/>
        </c:dLbls>
        <c:axId val="827559887"/>
        <c:axId val="1288998975"/>
      </c:scatterChart>
      <c:valAx>
        <c:axId val="827559887"/>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Iterations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88998975"/>
        <c:crosses val="autoZero"/>
        <c:crossBetween val="midCat"/>
      </c:valAx>
      <c:valAx>
        <c:axId val="1288998975"/>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P(x)</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27559887"/>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Sequence 5</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Sheet1!$A$113:$A$119</c:f>
              <c:numCache>
                <c:formatCode>General</c:formatCode>
                <c:ptCount val="7"/>
                <c:pt idx="0">
                  <c:v>1</c:v>
                </c:pt>
                <c:pt idx="1">
                  <c:v>2</c:v>
                </c:pt>
                <c:pt idx="2">
                  <c:v>3</c:v>
                </c:pt>
                <c:pt idx="3">
                  <c:v>4</c:v>
                </c:pt>
                <c:pt idx="4">
                  <c:v>5</c:v>
                </c:pt>
                <c:pt idx="5">
                  <c:v>6</c:v>
                </c:pt>
                <c:pt idx="6">
                  <c:v>7</c:v>
                </c:pt>
              </c:numCache>
            </c:numRef>
          </c:xVal>
          <c:yVal>
            <c:numRef>
              <c:f>Sheet1!$B$113:$B$119</c:f>
              <c:numCache>
                <c:formatCode>General</c:formatCode>
                <c:ptCount val="7"/>
                <c:pt idx="0">
                  <c:v>-5358.6097460000001</c:v>
                </c:pt>
                <c:pt idx="1">
                  <c:v>-15193.812984</c:v>
                </c:pt>
                <c:pt idx="2">
                  <c:v>-17740.987986</c:v>
                </c:pt>
                <c:pt idx="3">
                  <c:v>-18115.222752000001</c:v>
                </c:pt>
                <c:pt idx="4">
                  <c:v>-18133.182347000002</c:v>
                </c:pt>
                <c:pt idx="5">
                  <c:v>-18133.289862000001</c:v>
                </c:pt>
                <c:pt idx="6">
                  <c:v>-18133.289887999999</c:v>
                </c:pt>
              </c:numCache>
            </c:numRef>
          </c:yVal>
          <c:smooth val="0"/>
          <c:extLst>
            <c:ext xmlns:c16="http://schemas.microsoft.com/office/drawing/2014/chart" uri="{C3380CC4-5D6E-409C-BE32-E72D297353CC}">
              <c16:uniqueId val="{00000000-74EE-4EA7-9DD3-F07A0A682B59}"/>
            </c:ext>
          </c:extLst>
        </c:ser>
        <c:dLbls>
          <c:showLegendKey val="0"/>
          <c:showVal val="0"/>
          <c:showCatName val="0"/>
          <c:showSerName val="0"/>
          <c:showPercent val="0"/>
          <c:showBubbleSize val="0"/>
        </c:dLbls>
        <c:axId val="1389646239"/>
        <c:axId val="1289000223"/>
      </c:scatterChart>
      <c:valAx>
        <c:axId val="1389646239"/>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Iterations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89000223"/>
        <c:crosses val="autoZero"/>
        <c:crossBetween val="midCat"/>
      </c:valAx>
      <c:valAx>
        <c:axId val="128900022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P(x)</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89646239"/>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Sequence 6</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Sheet1!$A$120:$A$126</c:f>
              <c:numCache>
                <c:formatCode>General</c:formatCode>
                <c:ptCount val="7"/>
                <c:pt idx="0">
                  <c:v>1</c:v>
                </c:pt>
                <c:pt idx="1">
                  <c:v>2</c:v>
                </c:pt>
                <c:pt idx="2">
                  <c:v>3</c:v>
                </c:pt>
                <c:pt idx="3">
                  <c:v>4</c:v>
                </c:pt>
                <c:pt idx="4">
                  <c:v>5</c:v>
                </c:pt>
                <c:pt idx="5">
                  <c:v>6</c:v>
                </c:pt>
                <c:pt idx="6">
                  <c:v>7</c:v>
                </c:pt>
              </c:numCache>
            </c:numRef>
          </c:xVal>
          <c:yVal>
            <c:numRef>
              <c:f>Sheet1!$B$120:$B$126</c:f>
              <c:numCache>
                <c:formatCode>General</c:formatCode>
                <c:ptCount val="7"/>
                <c:pt idx="0">
                  <c:v>-12575.14934</c:v>
                </c:pt>
                <c:pt idx="1">
                  <c:v>-14192.142959000001</c:v>
                </c:pt>
                <c:pt idx="2">
                  <c:v>-14245.459475</c:v>
                </c:pt>
                <c:pt idx="3">
                  <c:v>-14259.546103000001</c:v>
                </c:pt>
                <c:pt idx="4">
                  <c:v>-14260.678996000001</c:v>
                </c:pt>
                <c:pt idx="5">
                  <c:v>-14260.718219</c:v>
                </c:pt>
                <c:pt idx="6">
                  <c:v>-14260.718806999999</c:v>
                </c:pt>
              </c:numCache>
            </c:numRef>
          </c:yVal>
          <c:smooth val="0"/>
          <c:extLst>
            <c:ext xmlns:c16="http://schemas.microsoft.com/office/drawing/2014/chart" uri="{C3380CC4-5D6E-409C-BE32-E72D297353CC}">
              <c16:uniqueId val="{00000000-E21B-4B59-820C-F499ACC63793}"/>
            </c:ext>
          </c:extLst>
        </c:ser>
        <c:dLbls>
          <c:showLegendKey val="0"/>
          <c:showVal val="0"/>
          <c:showCatName val="0"/>
          <c:showSerName val="0"/>
          <c:showPercent val="0"/>
          <c:showBubbleSize val="0"/>
        </c:dLbls>
        <c:axId val="1399422191"/>
        <c:axId val="1289006463"/>
      </c:scatterChart>
      <c:valAx>
        <c:axId val="1399422191"/>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Iterations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89006463"/>
        <c:crosses val="autoZero"/>
        <c:crossBetween val="midCat"/>
      </c:valAx>
      <c:valAx>
        <c:axId val="128900646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P(x)</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99422191"/>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800" b="0" i="0" baseline="0" dirty="0">
                <a:effectLst/>
              </a:rPr>
              <a:t>Function evaluation vs sequence</a:t>
            </a:r>
            <a:endParaRPr lang="en-IN" dirty="0">
              <a:effectLst/>
            </a:endParaRPr>
          </a:p>
        </c:rich>
      </c:tx>
      <c:layout>
        <c:manualLayout>
          <c:xMode val="edge"/>
          <c:yMode val="edge"/>
          <c:x val="0.19808598788823745"/>
          <c:y val="2.2755692092525447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Sheet1!$B$1</c:f>
              <c:strCache>
                <c:ptCount val="1"/>
                <c:pt idx="0">
                  <c:v> Function_evaluation</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Sheet1!$A$2:$A$8</c:f>
              <c:numCache>
                <c:formatCode>General</c:formatCode>
                <c:ptCount val="7"/>
                <c:pt idx="0">
                  <c:v>1</c:v>
                </c:pt>
                <c:pt idx="1">
                  <c:v>2</c:v>
                </c:pt>
                <c:pt idx="2">
                  <c:v>3</c:v>
                </c:pt>
                <c:pt idx="3">
                  <c:v>4</c:v>
                </c:pt>
                <c:pt idx="4">
                  <c:v>5</c:v>
                </c:pt>
              </c:numCache>
            </c:numRef>
          </c:xVal>
          <c:yVal>
            <c:numRef>
              <c:f>Sheet1!$B$2:$B$8</c:f>
              <c:numCache>
                <c:formatCode>General</c:formatCode>
                <c:ptCount val="7"/>
                <c:pt idx="0">
                  <c:v>298</c:v>
                </c:pt>
                <c:pt idx="1">
                  <c:v>258</c:v>
                </c:pt>
                <c:pt idx="2">
                  <c:v>238</c:v>
                </c:pt>
                <c:pt idx="3">
                  <c:v>218</c:v>
                </c:pt>
                <c:pt idx="4">
                  <c:v>198</c:v>
                </c:pt>
              </c:numCache>
            </c:numRef>
          </c:yVal>
          <c:smooth val="0"/>
          <c:extLst>
            <c:ext xmlns:c16="http://schemas.microsoft.com/office/drawing/2014/chart" uri="{C3380CC4-5D6E-409C-BE32-E72D297353CC}">
              <c16:uniqueId val="{00000000-57E2-4B59-8ACC-7BA04192DE8F}"/>
            </c:ext>
          </c:extLst>
        </c:ser>
        <c:dLbls>
          <c:dLblPos val="t"/>
          <c:showLegendKey val="0"/>
          <c:showVal val="1"/>
          <c:showCatName val="0"/>
          <c:showSerName val="0"/>
          <c:showPercent val="0"/>
          <c:showBubbleSize val="0"/>
        </c:dLbls>
        <c:axId val="728327120"/>
        <c:axId val="741577712"/>
      </c:scatterChart>
      <c:valAx>
        <c:axId val="728327120"/>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Sequence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41577712"/>
        <c:crosses val="autoZero"/>
        <c:crossBetween val="midCat"/>
      </c:valAx>
      <c:valAx>
        <c:axId val="74157771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Function evaluation</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28327120"/>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Sequence 1</a:t>
            </a:r>
          </a:p>
        </c:rich>
      </c:tx>
      <c:layout>
        <c:manualLayout>
          <c:xMode val="edge"/>
          <c:yMode val="edge"/>
          <c:x val="0.41227077865266848"/>
          <c:y val="2.7777777777777776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Sheet1!$A$1:$A$13</c:f>
              <c:numCache>
                <c:formatCode>General</c:formatCode>
                <c:ptCount val="13"/>
                <c:pt idx="0">
                  <c:v>1</c:v>
                </c:pt>
                <c:pt idx="1">
                  <c:v>2</c:v>
                </c:pt>
                <c:pt idx="2">
                  <c:v>3</c:v>
                </c:pt>
                <c:pt idx="3">
                  <c:v>4</c:v>
                </c:pt>
                <c:pt idx="4">
                  <c:v>5</c:v>
                </c:pt>
                <c:pt idx="5">
                  <c:v>6</c:v>
                </c:pt>
                <c:pt idx="6">
                  <c:v>7</c:v>
                </c:pt>
                <c:pt idx="7">
                  <c:v>8</c:v>
                </c:pt>
                <c:pt idx="8">
                  <c:v>9</c:v>
                </c:pt>
                <c:pt idx="9">
                  <c:v>10</c:v>
                </c:pt>
                <c:pt idx="10">
                  <c:v>11</c:v>
                </c:pt>
                <c:pt idx="11">
                  <c:v>12</c:v>
                </c:pt>
                <c:pt idx="12">
                  <c:v>13</c:v>
                </c:pt>
              </c:numCache>
            </c:numRef>
          </c:xVal>
          <c:yVal>
            <c:numRef>
              <c:f>Sheet1!$B$1:$B$13</c:f>
              <c:numCache>
                <c:formatCode>General</c:formatCode>
                <c:ptCount val="13"/>
                <c:pt idx="0">
                  <c:v>0.770007</c:v>
                </c:pt>
                <c:pt idx="1">
                  <c:v>0.75172099999999997</c:v>
                </c:pt>
                <c:pt idx="2">
                  <c:v>0.73486499999999999</c:v>
                </c:pt>
                <c:pt idx="3">
                  <c:v>0.71129600000000004</c:v>
                </c:pt>
                <c:pt idx="4">
                  <c:v>0.66938200000000003</c:v>
                </c:pt>
                <c:pt idx="5">
                  <c:v>0.62357399999999996</c:v>
                </c:pt>
                <c:pt idx="6">
                  <c:v>0.50200299999999998</c:v>
                </c:pt>
                <c:pt idx="7">
                  <c:v>0.37924999999999998</c:v>
                </c:pt>
                <c:pt idx="8">
                  <c:v>1.1024000000000001E-2</c:v>
                </c:pt>
                <c:pt idx="9">
                  <c:v>5.6910000000000002E-2</c:v>
                </c:pt>
                <c:pt idx="10">
                  <c:v>6.5272999999999998E-2</c:v>
                </c:pt>
                <c:pt idx="11">
                  <c:v>6.6159999999999997E-2</c:v>
                </c:pt>
                <c:pt idx="12">
                  <c:v>6.6171999999999995E-2</c:v>
                </c:pt>
              </c:numCache>
            </c:numRef>
          </c:yVal>
          <c:smooth val="0"/>
          <c:extLst>
            <c:ext xmlns:c16="http://schemas.microsoft.com/office/drawing/2014/chart" uri="{C3380CC4-5D6E-409C-BE32-E72D297353CC}">
              <c16:uniqueId val="{00000000-99EF-415B-B3E2-1B41EFC12E16}"/>
            </c:ext>
          </c:extLst>
        </c:ser>
        <c:dLbls>
          <c:showLegendKey val="0"/>
          <c:showVal val="0"/>
          <c:showCatName val="0"/>
          <c:showSerName val="0"/>
          <c:showPercent val="0"/>
          <c:showBubbleSize val="0"/>
        </c:dLbls>
        <c:axId val="277952720"/>
        <c:axId val="741586448"/>
      </c:scatterChart>
      <c:valAx>
        <c:axId val="277952720"/>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Iterations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41586448"/>
        <c:crosses val="autoZero"/>
        <c:crossBetween val="midCat"/>
      </c:valAx>
      <c:valAx>
        <c:axId val="74158644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P(x)</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77952720"/>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Sequence</a:t>
            </a:r>
            <a:r>
              <a:rPr lang="en-IN" baseline="0"/>
              <a:t> 2</a:t>
            </a:r>
            <a:endParaRPr lang="en-IN"/>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Sheet1!$A$14:$A$24</c:f>
              <c:numCache>
                <c:formatCode>General</c:formatCode>
                <c:ptCount val="11"/>
                <c:pt idx="0">
                  <c:v>1</c:v>
                </c:pt>
                <c:pt idx="1">
                  <c:v>2</c:v>
                </c:pt>
                <c:pt idx="2">
                  <c:v>3</c:v>
                </c:pt>
                <c:pt idx="3">
                  <c:v>4</c:v>
                </c:pt>
                <c:pt idx="4">
                  <c:v>5</c:v>
                </c:pt>
                <c:pt idx="5">
                  <c:v>6</c:v>
                </c:pt>
                <c:pt idx="6">
                  <c:v>7</c:v>
                </c:pt>
                <c:pt idx="7">
                  <c:v>8</c:v>
                </c:pt>
                <c:pt idx="8">
                  <c:v>9</c:v>
                </c:pt>
                <c:pt idx="9">
                  <c:v>10</c:v>
                </c:pt>
                <c:pt idx="10">
                  <c:v>11</c:v>
                </c:pt>
              </c:numCache>
            </c:numRef>
          </c:xVal>
          <c:yVal>
            <c:numRef>
              <c:f>Sheet1!$B$14:$B$24</c:f>
              <c:numCache>
                <c:formatCode>General</c:formatCode>
                <c:ptCount val="11"/>
                <c:pt idx="0">
                  <c:v>0.65082099999999998</c:v>
                </c:pt>
                <c:pt idx="1">
                  <c:v>0.63737600000000005</c:v>
                </c:pt>
                <c:pt idx="2">
                  <c:v>0.61014800000000002</c:v>
                </c:pt>
                <c:pt idx="3">
                  <c:v>0.562921</c:v>
                </c:pt>
                <c:pt idx="4">
                  <c:v>0.48730400000000001</c:v>
                </c:pt>
                <c:pt idx="5">
                  <c:v>0.38486599999999999</c:v>
                </c:pt>
                <c:pt idx="6">
                  <c:v>0.26266499999999998</c:v>
                </c:pt>
                <c:pt idx="7">
                  <c:v>0.15422</c:v>
                </c:pt>
                <c:pt idx="8">
                  <c:v>0.43480099999999999</c:v>
                </c:pt>
                <c:pt idx="9">
                  <c:v>0.14649200000000001</c:v>
                </c:pt>
                <c:pt idx="10">
                  <c:v>0.103852</c:v>
                </c:pt>
              </c:numCache>
            </c:numRef>
          </c:yVal>
          <c:smooth val="0"/>
          <c:extLst>
            <c:ext xmlns:c16="http://schemas.microsoft.com/office/drawing/2014/chart" uri="{C3380CC4-5D6E-409C-BE32-E72D297353CC}">
              <c16:uniqueId val="{00000000-5E9B-448A-9D8A-5DFE5C659511}"/>
            </c:ext>
          </c:extLst>
        </c:ser>
        <c:dLbls>
          <c:showLegendKey val="0"/>
          <c:showVal val="0"/>
          <c:showCatName val="0"/>
          <c:showSerName val="0"/>
          <c:showPercent val="0"/>
          <c:showBubbleSize val="0"/>
        </c:dLbls>
        <c:axId val="864169072"/>
        <c:axId val="275897040"/>
      </c:scatterChart>
      <c:valAx>
        <c:axId val="864169072"/>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Iterations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75897040"/>
        <c:crosses val="autoZero"/>
        <c:crossBetween val="midCat"/>
      </c:valAx>
      <c:valAx>
        <c:axId val="27589704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P(x)</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64169072"/>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Sequence 3</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Sheet1!$A$25:$A$34</c:f>
              <c:numCache>
                <c:formatCode>General</c:formatCode>
                <c:ptCount val="10"/>
                <c:pt idx="0">
                  <c:v>1</c:v>
                </c:pt>
                <c:pt idx="1">
                  <c:v>2</c:v>
                </c:pt>
                <c:pt idx="2">
                  <c:v>3</c:v>
                </c:pt>
                <c:pt idx="3">
                  <c:v>4</c:v>
                </c:pt>
                <c:pt idx="4">
                  <c:v>5</c:v>
                </c:pt>
                <c:pt idx="5">
                  <c:v>6</c:v>
                </c:pt>
                <c:pt idx="6">
                  <c:v>7</c:v>
                </c:pt>
                <c:pt idx="7">
                  <c:v>8</c:v>
                </c:pt>
                <c:pt idx="8">
                  <c:v>9</c:v>
                </c:pt>
                <c:pt idx="9">
                  <c:v>10</c:v>
                </c:pt>
              </c:numCache>
            </c:numRef>
          </c:xVal>
          <c:yVal>
            <c:numRef>
              <c:f>Sheet1!$B$25:$B$34</c:f>
              <c:numCache>
                <c:formatCode>General</c:formatCode>
                <c:ptCount val="10"/>
                <c:pt idx="0">
                  <c:v>0.88768800000000003</c:v>
                </c:pt>
                <c:pt idx="1">
                  <c:v>0.82603700000000002</c:v>
                </c:pt>
                <c:pt idx="2">
                  <c:v>0.72478299999999996</c:v>
                </c:pt>
                <c:pt idx="3">
                  <c:v>0.412381</c:v>
                </c:pt>
                <c:pt idx="4">
                  <c:v>0.401368</c:v>
                </c:pt>
                <c:pt idx="5">
                  <c:v>0.39774799999999999</c:v>
                </c:pt>
                <c:pt idx="6">
                  <c:v>0.396783</c:v>
                </c:pt>
                <c:pt idx="7">
                  <c:v>0.41412599999999999</c:v>
                </c:pt>
                <c:pt idx="8">
                  <c:v>0.423406</c:v>
                </c:pt>
                <c:pt idx="9">
                  <c:v>0.423705</c:v>
                </c:pt>
              </c:numCache>
            </c:numRef>
          </c:yVal>
          <c:smooth val="0"/>
          <c:extLst>
            <c:ext xmlns:c16="http://schemas.microsoft.com/office/drawing/2014/chart" uri="{C3380CC4-5D6E-409C-BE32-E72D297353CC}">
              <c16:uniqueId val="{00000000-70F5-4BFC-92DB-F3E96048F2AE}"/>
            </c:ext>
          </c:extLst>
        </c:ser>
        <c:dLbls>
          <c:showLegendKey val="0"/>
          <c:showVal val="0"/>
          <c:showCatName val="0"/>
          <c:showSerName val="0"/>
          <c:showPercent val="0"/>
          <c:showBubbleSize val="0"/>
        </c:dLbls>
        <c:axId val="726105840"/>
        <c:axId val="275899120"/>
      </c:scatterChart>
      <c:valAx>
        <c:axId val="726105840"/>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Iterations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75899120"/>
        <c:crosses val="autoZero"/>
        <c:crossBetween val="midCat"/>
      </c:valAx>
      <c:valAx>
        <c:axId val="27589912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P(x)</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26105840"/>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Sequence 4</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Sheet1!$A$35:$A$43</c:f>
              <c:numCache>
                <c:formatCode>General</c:formatCode>
                <c:ptCount val="9"/>
                <c:pt idx="0">
                  <c:v>1</c:v>
                </c:pt>
                <c:pt idx="1">
                  <c:v>2</c:v>
                </c:pt>
                <c:pt idx="2">
                  <c:v>3</c:v>
                </c:pt>
                <c:pt idx="3">
                  <c:v>4</c:v>
                </c:pt>
                <c:pt idx="4">
                  <c:v>5</c:v>
                </c:pt>
                <c:pt idx="5">
                  <c:v>6</c:v>
                </c:pt>
                <c:pt idx="6">
                  <c:v>7</c:v>
                </c:pt>
                <c:pt idx="7">
                  <c:v>8</c:v>
                </c:pt>
                <c:pt idx="8">
                  <c:v>9</c:v>
                </c:pt>
              </c:numCache>
            </c:numRef>
          </c:xVal>
          <c:yVal>
            <c:numRef>
              <c:f>Sheet1!$B$35:$B$43</c:f>
              <c:numCache>
                <c:formatCode>General</c:formatCode>
                <c:ptCount val="9"/>
                <c:pt idx="0">
                  <c:v>2.7424789999999999</c:v>
                </c:pt>
                <c:pt idx="1">
                  <c:v>1.821995</c:v>
                </c:pt>
                <c:pt idx="2">
                  <c:v>1.0302789999999999</c:v>
                </c:pt>
                <c:pt idx="3">
                  <c:v>0.44804300000000002</c:v>
                </c:pt>
                <c:pt idx="4">
                  <c:v>0.243697</c:v>
                </c:pt>
                <c:pt idx="5">
                  <c:v>9.4258999999999996E-2</c:v>
                </c:pt>
                <c:pt idx="6">
                  <c:v>9.8129999999999995E-2</c:v>
                </c:pt>
                <c:pt idx="7">
                  <c:v>0.101789</c:v>
                </c:pt>
                <c:pt idx="8">
                  <c:v>0.10177700000000001</c:v>
                </c:pt>
              </c:numCache>
            </c:numRef>
          </c:yVal>
          <c:smooth val="0"/>
          <c:extLst>
            <c:ext xmlns:c16="http://schemas.microsoft.com/office/drawing/2014/chart" uri="{C3380CC4-5D6E-409C-BE32-E72D297353CC}">
              <c16:uniqueId val="{00000000-8A39-4C2B-A0E3-7132FEFD4B8A}"/>
            </c:ext>
          </c:extLst>
        </c:ser>
        <c:dLbls>
          <c:showLegendKey val="0"/>
          <c:showVal val="0"/>
          <c:showCatName val="0"/>
          <c:showSerName val="0"/>
          <c:showPercent val="0"/>
          <c:showBubbleSize val="0"/>
        </c:dLbls>
        <c:axId val="862662992"/>
        <c:axId val="279569696"/>
      </c:scatterChart>
      <c:valAx>
        <c:axId val="862662992"/>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Iterations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79569696"/>
        <c:crosses val="autoZero"/>
        <c:crossBetween val="midCat"/>
      </c:valAx>
      <c:valAx>
        <c:axId val="27956969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P(x)</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62662992"/>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Sequence 5</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Sheet1!$A$44:$A$51</c:f>
              <c:numCache>
                <c:formatCode>General</c:formatCode>
                <c:ptCount val="8"/>
                <c:pt idx="0">
                  <c:v>1</c:v>
                </c:pt>
                <c:pt idx="1">
                  <c:v>2</c:v>
                </c:pt>
                <c:pt idx="2">
                  <c:v>3</c:v>
                </c:pt>
                <c:pt idx="3">
                  <c:v>4</c:v>
                </c:pt>
                <c:pt idx="4">
                  <c:v>5</c:v>
                </c:pt>
                <c:pt idx="5">
                  <c:v>6</c:v>
                </c:pt>
                <c:pt idx="6">
                  <c:v>7</c:v>
                </c:pt>
                <c:pt idx="7">
                  <c:v>8</c:v>
                </c:pt>
              </c:numCache>
            </c:numRef>
          </c:xVal>
          <c:yVal>
            <c:numRef>
              <c:f>Sheet1!$B$44:$B$51</c:f>
              <c:numCache>
                <c:formatCode>General</c:formatCode>
                <c:ptCount val="8"/>
                <c:pt idx="0">
                  <c:v>0.47241699999999998</c:v>
                </c:pt>
                <c:pt idx="1">
                  <c:v>0.210563</c:v>
                </c:pt>
                <c:pt idx="2">
                  <c:v>5.1819999999999998E-2</c:v>
                </c:pt>
                <c:pt idx="3">
                  <c:v>-3.0807999999999999E-2</c:v>
                </c:pt>
                <c:pt idx="4">
                  <c:v>-5.1043999999999999E-2</c:v>
                </c:pt>
                <c:pt idx="5">
                  <c:v>-8.0828999999999998E-2</c:v>
                </c:pt>
                <c:pt idx="6">
                  <c:v>-9.5426999999999998E-2</c:v>
                </c:pt>
                <c:pt idx="7">
                  <c:v>-9.5972000000000002E-2</c:v>
                </c:pt>
              </c:numCache>
            </c:numRef>
          </c:yVal>
          <c:smooth val="0"/>
          <c:extLst>
            <c:ext xmlns:c16="http://schemas.microsoft.com/office/drawing/2014/chart" uri="{C3380CC4-5D6E-409C-BE32-E72D297353CC}">
              <c16:uniqueId val="{00000000-F112-4407-90CA-D84F308F3E27}"/>
            </c:ext>
          </c:extLst>
        </c:ser>
        <c:dLbls>
          <c:showLegendKey val="0"/>
          <c:showVal val="0"/>
          <c:showCatName val="0"/>
          <c:showSerName val="0"/>
          <c:showPercent val="0"/>
          <c:showBubbleSize val="0"/>
        </c:dLbls>
        <c:axId val="728328320"/>
        <c:axId val="731861184"/>
      </c:scatterChart>
      <c:valAx>
        <c:axId val="728328320"/>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Iterations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31861184"/>
        <c:crosses val="autoZero"/>
        <c:crossBetween val="midCat"/>
      </c:valAx>
      <c:valAx>
        <c:axId val="73186118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P(x)</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28328320"/>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Function evaluation vs sequence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spPr>
            <a:ln w="19050" cap="rnd">
              <a:solidFill>
                <a:schemeClr val="accent1"/>
              </a:solidFill>
              <a:round/>
            </a:ln>
            <a:effectLst/>
          </c:spPr>
          <c:marker>
            <c:symbol val="circle"/>
            <c:size val="5"/>
            <c:spPr>
              <a:solidFill>
                <a:schemeClr val="accent1"/>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Sheet1!$D$2:$D$7</c:f>
              <c:numCache>
                <c:formatCode>General</c:formatCode>
                <c:ptCount val="6"/>
                <c:pt idx="0">
                  <c:v>1</c:v>
                </c:pt>
                <c:pt idx="1">
                  <c:v>2</c:v>
                </c:pt>
                <c:pt idx="2">
                  <c:v>3</c:v>
                </c:pt>
                <c:pt idx="3">
                  <c:v>4</c:v>
                </c:pt>
                <c:pt idx="4">
                  <c:v>5</c:v>
                </c:pt>
                <c:pt idx="5">
                  <c:v>6</c:v>
                </c:pt>
              </c:numCache>
            </c:numRef>
          </c:xVal>
          <c:yVal>
            <c:numRef>
              <c:f>Sheet1!$E$2:$E$7</c:f>
              <c:numCache>
                <c:formatCode>General</c:formatCode>
                <c:ptCount val="6"/>
                <c:pt idx="0">
                  <c:v>11170</c:v>
                </c:pt>
                <c:pt idx="1">
                  <c:v>9042</c:v>
                </c:pt>
                <c:pt idx="2">
                  <c:v>7180</c:v>
                </c:pt>
                <c:pt idx="3">
                  <c:v>7180</c:v>
                </c:pt>
                <c:pt idx="4">
                  <c:v>13564</c:v>
                </c:pt>
                <c:pt idx="5">
                  <c:v>530</c:v>
                </c:pt>
              </c:numCache>
            </c:numRef>
          </c:yVal>
          <c:smooth val="0"/>
          <c:extLst>
            <c:ext xmlns:c16="http://schemas.microsoft.com/office/drawing/2014/chart" uri="{C3380CC4-5D6E-409C-BE32-E72D297353CC}">
              <c16:uniqueId val="{00000000-6FCA-4E7E-93B7-854A72FC829D}"/>
            </c:ext>
          </c:extLst>
        </c:ser>
        <c:dLbls>
          <c:dLblPos val="t"/>
          <c:showLegendKey val="0"/>
          <c:showVal val="1"/>
          <c:showCatName val="0"/>
          <c:showSerName val="0"/>
          <c:showPercent val="0"/>
          <c:showBubbleSize val="0"/>
        </c:dLbls>
        <c:axId val="1194944671"/>
        <c:axId val="1194135039"/>
      </c:scatterChart>
      <c:valAx>
        <c:axId val="1194944671"/>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Sequence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94135039"/>
        <c:crosses val="autoZero"/>
        <c:crossBetween val="midCat"/>
      </c:valAx>
      <c:valAx>
        <c:axId val="1194135039"/>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Function Evaluation</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94944671"/>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Sequence 1</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Sheet1!$A$1:$A$40</c:f>
              <c:numCache>
                <c:formatCode>General</c:formatCode>
                <c:ptCount val="4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numCache>
            </c:numRef>
          </c:xVal>
          <c:yVal>
            <c:numRef>
              <c:f>Sheet1!$B$1:$B$40</c:f>
              <c:numCache>
                <c:formatCode>General</c:formatCode>
                <c:ptCount val="40"/>
                <c:pt idx="0">
                  <c:v>13653.321457</c:v>
                </c:pt>
                <c:pt idx="1">
                  <c:v>13653.261457000001</c:v>
                </c:pt>
                <c:pt idx="2">
                  <c:v>13653.141457</c:v>
                </c:pt>
                <c:pt idx="3">
                  <c:v>13652.901457</c:v>
                </c:pt>
                <c:pt idx="4">
                  <c:v>13652.421457</c:v>
                </c:pt>
                <c:pt idx="5">
                  <c:v>13651.461456999999</c:v>
                </c:pt>
                <c:pt idx="6">
                  <c:v>13649.541458</c:v>
                </c:pt>
                <c:pt idx="7">
                  <c:v>13645.701461000001</c:v>
                </c:pt>
                <c:pt idx="8">
                  <c:v>13638.021461</c:v>
                </c:pt>
                <c:pt idx="9">
                  <c:v>13622.661366</c:v>
                </c:pt>
                <c:pt idx="10">
                  <c:v>13591.941365999999</c:v>
                </c:pt>
                <c:pt idx="11">
                  <c:v>13530.49984</c:v>
                </c:pt>
                <c:pt idx="12">
                  <c:v>13407.619839999999</c:v>
                </c:pt>
                <c:pt idx="13">
                  <c:v>13161.872045</c:v>
                </c:pt>
                <c:pt idx="14">
                  <c:v>12670.303202999999</c:v>
                </c:pt>
                <c:pt idx="15">
                  <c:v>11687.263214000001</c:v>
                </c:pt>
                <c:pt idx="16">
                  <c:v>9721.1832589999995</c:v>
                </c:pt>
                <c:pt idx="17">
                  <c:v>5789.0227889999996</c:v>
                </c:pt>
                <c:pt idx="18">
                  <c:v>-2072.1789779999999</c:v>
                </c:pt>
                <c:pt idx="19">
                  <c:v>-17782.087361000002</c:v>
                </c:pt>
                <c:pt idx="20">
                  <c:v>-48670.900027999996</c:v>
                </c:pt>
                <c:pt idx="21">
                  <c:v>-99001.895927000005</c:v>
                </c:pt>
                <c:pt idx="22">
                  <c:v>-225713.160534</c:v>
                </c:pt>
                <c:pt idx="23">
                  <c:v>-180988.330445</c:v>
                </c:pt>
                <c:pt idx="24">
                  <c:v>-621997.26373600005</c:v>
                </c:pt>
                <c:pt idx="25">
                  <c:v>-595551.43195600004</c:v>
                </c:pt>
                <c:pt idx="26">
                  <c:v>-555497.33784199995</c:v>
                </c:pt>
                <c:pt idx="27">
                  <c:v>-529578.96841199999</c:v>
                </c:pt>
                <c:pt idx="28">
                  <c:v>-550333.39114299999</c:v>
                </c:pt>
                <c:pt idx="29">
                  <c:v>-542556.83206599997</c:v>
                </c:pt>
                <c:pt idx="30">
                  <c:v>-15704160.880861999</c:v>
                </c:pt>
                <c:pt idx="31">
                  <c:v>-32754280.607829999</c:v>
                </c:pt>
                <c:pt idx="32">
                  <c:v>-161603362.462834</c:v>
                </c:pt>
                <c:pt idx="33">
                  <c:v>-161603261.80224699</c:v>
                </c:pt>
                <c:pt idx="34">
                  <c:v>-161603362.46370599</c:v>
                </c:pt>
                <c:pt idx="35">
                  <c:v>-161603451.943847</c:v>
                </c:pt>
                <c:pt idx="36">
                  <c:v>-161603552.60928801</c:v>
                </c:pt>
                <c:pt idx="37">
                  <c:v>-161603451.948677</c:v>
                </c:pt>
                <c:pt idx="38">
                  <c:v>-161603351.28948</c:v>
                </c:pt>
                <c:pt idx="39">
                  <c:v>-161603451.954824</c:v>
                </c:pt>
              </c:numCache>
            </c:numRef>
          </c:yVal>
          <c:smooth val="0"/>
          <c:extLst>
            <c:ext xmlns:c16="http://schemas.microsoft.com/office/drawing/2014/chart" uri="{C3380CC4-5D6E-409C-BE32-E72D297353CC}">
              <c16:uniqueId val="{00000000-975A-4D09-AE6F-F08D7FCCD51C}"/>
            </c:ext>
          </c:extLst>
        </c:ser>
        <c:dLbls>
          <c:showLegendKey val="0"/>
          <c:showVal val="0"/>
          <c:showCatName val="0"/>
          <c:showSerName val="0"/>
          <c:showPercent val="0"/>
          <c:showBubbleSize val="0"/>
        </c:dLbls>
        <c:axId val="1194943871"/>
        <c:axId val="1197586431"/>
      </c:scatterChart>
      <c:valAx>
        <c:axId val="1194943871"/>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Iterations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97586431"/>
        <c:crosses val="autoZero"/>
        <c:crossBetween val="midCat"/>
      </c:valAx>
      <c:valAx>
        <c:axId val="1197586431"/>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P(x)</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94943871"/>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Sequence 2</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Sheet1!$A$41:$A$72</c:f>
              <c:numCache>
                <c:formatCode>General</c:formatCode>
                <c:ptCount val="3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numCache>
            </c:numRef>
          </c:xVal>
          <c:yVal>
            <c:numRef>
              <c:f>Sheet1!$B$41:$B$72</c:f>
              <c:numCache>
                <c:formatCode>General</c:formatCode>
                <c:ptCount val="32"/>
                <c:pt idx="0">
                  <c:v>-161600914.60408601</c:v>
                </c:pt>
                <c:pt idx="1">
                  <c:v>-161600914.66428599</c:v>
                </c:pt>
                <c:pt idx="2">
                  <c:v>-161600914.784545</c:v>
                </c:pt>
                <c:pt idx="3">
                  <c:v>-161600915.02477801</c:v>
                </c:pt>
                <c:pt idx="4">
                  <c:v>-161600915.50184599</c:v>
                </c:pt>
                <c:pt idx="5">
                  <c:v>-161600916.46503901</c:v>
                </c:pt>
                <c:pt idx="6">
                  <c:v>-161600918.46759799</c:v>
                </c:pt>
                <c:pt idx="7">
                  <c:v>-161600922.17956701</c:v>
                </c:pt>
                <c:pt idx="8">
                  <c:v>-161600930.517286</c:v>
                </c:pt>
                <c:pt idx="9">
                  <c:v>-161600945.920573</c:v>
                </c:pt>
                <c:pt idx="10">
                  <c:v>-161600976.731794</c:v>
                </c:pt>
                <c:pt idx="11">
                  <c:v>-161601040.40807101</c:v>
                </c:pt>
                <c:pt idx="12">
                  <c:v>-161601163.92725801</c:v>
                </c:pt>
                <c:pt idx="13">
                  <c:v>-161601409.24715099</c:v>
                </c:pt>
                <c:pt idx="14">
                  <c:v>-161601900.80408299</c:v>
                </c:pt>
                <c:pt idx="15">
                  <c:v>-161602884.299445</c:v>
                </c:pt>
                <c:pt idx="16">
                  <c:v>-161604850.65305701</c:v>
                </c:pt>
                <c:pt idx="17">
                  <c:v>-161608781.44963399</c:v>
                </c:pt>
                <c:pt idx="18">
                  <c:v>-161616646.06331101</c:v>
                </c:pt>
                <c:pt idx="19">
                  <c:v>-161632382.37969899</c:v>
                </c:pt>
                <c:pt idx="20">
                  <c:v>-161663859.982012</c:v>
                </c:pt>
                <c:pt idx="21">
                  <c:v>-161726774.29228401</c:v>
                </c:pt>
                <c:pt idx="22">
                  <c:v>-161852664.90129799</c:v>
                </c:pt>
                <c:pt idx="23">
                  <c:v>-162105032.16573501</c:v>
                </c:pt>
                <c:pt idx="24">
                  <c:v>-162609090.332569</c:v>
                </c:pt>
                <c:pt idx="25">
                  <c:v>-163615759.941544</c:v>
                </c:pt>
                <c:pt idx="26">
                  <c:v>-165629021.23259899</c:v>
                </c:pt>
                <c:pt idx="27">
                  <c:v>-169655481.34222901</c:v>
                </c:pt>
                <c:pt idx="28">
                  <c:v>-177708410.93051201</c:v>
                </c:pt>
                <c:pt idx="29">
                  <c:v>-193814527.94484699</c:v>
                </c:pt>
                <c:pt idx="30">
                  <c:v>-226026150.98597601</c:v>
                </c:pt>
                <c:pt idx="31">
                  <c:v>-290448029.15961802</c:v>
                </c:pt>
              </c:numCache>
            </c:numRef>
          </c:yVal>
          <c:smooth val="0"/>
          <c:extLst>
            <c:ext xmlns:c16="http://schemas.microsoft.com/office/drawing/2014/chart" uri="{C3380CC4-5D6E-409C-BE32-E72D297353CC}">
              <c16:uniqueId val="{00000000-52FE-4814-9632-AD2E262724B5}"/>
            </c:ext>
          </c:extLst>
        </c:ser>
        <c:dLbls>
          <c:showLegendKey val="0"/>
          <c:showVal val="0"/>
          <c:showCatName val="0"/>
          <c:showSerName val="0"/>
          <c:showPercent val="0"/>
          <c:showBubbleSize val="0"/>
        </c:dLbls>
        <c:axId val="1189972943"/>
        <c:axId val="722917759"/>
      </c:scatterChart>
      <c:valAx>
        <c:axId val="1189972943"/>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Iterations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22917759"/>
        <c:crosses val="autoZero"/>
        <c:crossBetween val="midCat"/>
      </c:valAx>
      <c:valAx>
        <c:axId val="722917759"/>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P(x)</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89972943"/>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Sequence</a:t>
            </a:r>
            <a:r>
              <a:rPr lang="en-IN" baseline="0"/>
              <a:t> 3</a:t>
            </a:r>
            <a:endParaRPr lang="en-IN"/>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Sheet1!$A$73:$A$97</c:f>
              <c:numCache>
                <c:formatCode>General</c:formatCode>
                <c:ptCount val="2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numCache>
            </c:numRef>
          </c:xVal>
          <c:yVal>
            <c:numRef>
              <c:f>Sheet1!$B$73:$B$97</c:f>
              <c:numCache>
                <c:formatCode>General</c:formatCode>
                <c:ptCount val="25"/>
                <c:pt idx="0">
                  <c:v>-290417820.69816399</c:v>
                </c:pt>
                <c:pt idx="1">
                  <c:v>-290417820.77911001</c:v>
                </c:pt>
                <c:pt idx="2">
                  <c:v>-290417820.94062299</c:v>
                </c:pt>
                <c:pt idx="3">
                  <c:v>-290417821.26452601</c:v>
                </c:pt>
                <c:pt idx="4">
                  <c:v>-290417821.91045201</c:v>
                </c:pt>
                <c:pt idx="5">
                  <c:v>-290417823.23437399</c:v>
                </c:pt>
                <c:pt idx="6">
                  <c:v>-290417825.97571403</c:v>
                </c:pt>
                <c:pt idx="7">
                  <c:v>-290417830.64732498</c:v>
                </c:pt>
                <c:pt idx="8">
                  <c:v>-290417840.58238399</c:v>
                </c:pt>
                <c:pt idx="9">
                  <c:v>-290417874.27891803</c:v>
                </c:pt>
                <c:pt idx="10">
                  <c:v>-290417915.73439598</c:v>
                </c:pt>
                <c:pt idx="11">
                  <c:v>-290417998.63806599</c:v>
                </c:pt>
                <c:pt idx="12">
                  <c:v>-290418132.10950798</c:v>
                </c:pt>
                <c:pt idx="13">
                  <c:v>-290418389.94897997</c:v>
                </c:pt>
                <c:pt idx="14">
                  <c:v>-290419052.755005</c:v>
                </c:pt>
                <c:pt idx="15">
                  <c:v>-290420376.17548698</c:v>
                </c:pt>
                <c:pt idx="16">
                  <c:v>-290423014.35197198</c:v>
                </c:pt>
                <c:pt idx="17">
                  <c:v>-290426874.96290898</c:v>
                </c:pt>
                <c:pt idx="18">
                  <c:v>-290437337.817406</c:v>
                </c:pt>
                <c:pt idx="19">
                  <c:v>-290457746.79705</c:v>
                </c:pt>
                <c:pt idx="20">
                  <c:v>-290489192.37965298</c:v>
                </c:pt>
                <c:pt idx="21">
                  <c:v>-290565770.32400399</c:v>
                </c:pt>
                <c:pt idx="22">
                  <c:v>-290691588.74874699</c:v>
                </c:pt>
                <c:pt idx="23">
                  <c:v>-290943257.532538</c:v>
                </c:pt>
                <c:pt idx="24">
                  <c:v>-291446585.48716497</c:v>
                </c:pt>
              </c:numCache>
            </c:numRef>
          </c:yVal>
          <c:smooth val="0"/>
          <c:extLst>
            <c:ext xmlns:c16="http://schemas.microsoft.com/office/drawing/2014/chart" uri="{C3380CC4-5D6E-409C-BE32-E72D297353CC}">
              <c16:uniqueId val="{00000000-063F-4F16-BE83-4B3D58EC0F31}"/>
            </c:ext>
          </c:extLst>
        </c:ser>
        <c:dLbls>
          <c:showLegendKey val="0"/>
          <c:showVal val="0"/>
          <c:showCatName val="0"/>
          <c:showSerName val="0"/>
          <c:showPercent val="0"/>
          <c:showBubbleSize val="0"/>
        </c:dLbls>
        <c:axId val="1203284255"/>
        <c:axId val="727437647"/>
      </c:scatterChart>
      <c:valAx>
        <c:axId val="1203284255"/>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Iterations</a:t>
                </a:r>
              </a:p>
            </c:rich>
          </c:tx>
          <c:layout>
            <c:manualLayout>
              <c:xMode val="edge"/>
              <c:yMode val="edge"/>
              <c:x val="0.42892257217847768"/>
              <c:y val="0.87868037328667248"/>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27437647"/>
        <c:crosses val="autoZero"/>
        <c:crossBetween val="midCat"/>
      </c:valAx>
      <c:valAx>
        <c:axId val="727437647"/>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P(x)</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03284255"/>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Sequence 4</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Sheet1!$A$98:$A$122</c:f>
              <c:numCache>
                <c:formatCode>General</c:formatCode>
                <c:ptCount val="2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numCache>
            </c:numRef>
          </c:xVal>
          <c:yVal>
            <c:numRef>
              <c:f>Sheet1!$B$98:$B$122</c:f>
              <c:numCache>
                <c:formatCode>General</c:formatCode>
                <c:ptCount val="25"/>
                <c:pt idx="0">
                  <c:v>-291343574.94884503</c:v>
                </c:pt>
                <c:pt idx="1">
                  <c:v>-291343575.661529</c:v>
                </c:pt>
                <c:pt idx="2">
                  <c:v>-291343577.088507</c:v>
                </c:pt>
                <c:pt idx="3">
                  <c:v>-291343579.94785899</c:v>
                </c:pt>
                <c:pt idx="4">
                  <c:v>-291343585.59960997</c:v>
                </c:pt>
                <c:pt idx="5">
                  <c:v>-291343596.93832898</c:v>
                </c:pt>
                <c:pt idx="6">
                  <c:v>-291343620.28460801</c:v>
                </c:pt>
                <c:pt idx="7">
                  <c:v>-291343669.56551999</c:v>
                </c:pt>
                <c:pt idx="8">
                  <c:v>-291343762.85913301</c:v>
                </c:pt>
                <c:pt idx="9">
                  <c:v>-291343942.357261</c:v>
                </c:pt>
                <c:pt idx="10">
                  <c:v>-291344180.99123299</c:v>
                </c:pt>
                <c:pt idx="11">
                  <c:v>-291344904.78714901</c:v>
                </c:pt>
                <c:pt idx="12">
                  <c:v>-291345938.89565402</c:v>
                </c:pt>
                <c:pt idx="13">
                  <c:v>-291345406.10176301</c:v>
                </c:pt>
                <c:pt idx="14">
                  <c:v>-291345671.23904699</c:v>
                </c:pt>
                <c:pt idx="15">
                  <c:v>-291346307.96432102</c:v>
                </c:pt>
                <c:pt idx="16">
                  <c:v>-291348859.01111102</c:v>
                </c:pt>
                <c:pt idx="17">
                  <c:v>-291369784.52673501</c:v>
                </c:pt>
                <c:pt idx="18">
                  <c:v>-291378059.45657498</c:v>
                </c:pt>
                <c:pt idx="19">
                  <c:v>-291470960.28162998</c:v>
                </c:pt>
                <c:pt idx="20">
                  <c:v>-291502653.21316701</c:v>
                </c:pt>
                <c:pt idx="21">
                  <c:v>-291565753.12792498</c:v>
                </c:pt>
                <c:pt idx="22">
                  <c:v>-291691313.24155998</c:v>
                </c:pt>
                <c:pt idx="23">
                  <c:v>-291943350.83574498</c:v>
                </c:pt>
                <c:pt idx="24">
                  <c:v>-292446590.75989902</c:v>
                </c:pt>
              </c:numCache>
            </c:numRef>
          </c:yVal>
          <c:smooth val="0"/>
          <c:extLst>
            <c:ext xmlns:c16="http://schemas.microsoft.com/office/drawing/2014/chart" uri="{C3380CC4-5D6E-409C-BE32-E72D297353CC}">
              <c16:uniqueId val="{00000000-FA0C-4031-AC95-AA913BABD725}"/>
            </c:ext>
          </c:extLst>
        </c:ser>
        <c:dLbls>
          <c:showLegendKey val="0"/>
          <c:showVal val="0"/>
          <c:showCatName val="0"/>
          <c:showSerName val="0"/>
          <c:showPercent val="0"/>
          <c:showBubbleSize val="0"/>
        </c:dLbls>
        <c:axId val="596489615"/>
        <c:axId val="727681999"/>
      </c:scatterChart>
      <c:valAx>
        <c:axId val="596489615"/>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Iterations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27681999"/>
        <c:crosses val="autoZero"/>
        <c:crossBetween val="midCat"/>
      </c:valAx>
      <c:valAx>
        <c:axId val="727681999"/>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P(x)</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96489615"/>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dirty="0"/>
              <a:t>Sequence 5</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Sheet1!$A$123:$A$171</c:f>
              <c:numCache>
                <c:formatCode>General</c:formatCode>
                <c:ptCount val="4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numCache>
            </c:numRef>
          </c:xVal>
          <c:yVal>
            <c:numRef>
              <c:f>Sheet1!$B$123:$B$171</c:f>
              <c:numCache>
                <c:formatCode>General</c:formatCode>
                <c:ptCount val="49"/>
                <c:pt idx="0">
                  <c:v>-292284095.27056402</c:v>
                </c:pt>
                <c:pt idx="1">
                  <c:v>-292284103.35633397</c:v>
                </c:pt>
                <c:pt idx="2">
                  <c:v>-292284119.59375799</c:v>
                </c:pt>
                <c:pt idx="3">
                  <c:v>-292284151.93128097</c:v>
                </c:pt>
                <c:pt idx="4">
                  <c:v>-292284216.62989002</c:v>
                </c:pt>
                <c:pt idx="5">
                  <c:v>-292284345.92008799</c:v>
                </c:pt>
                <c:pt idx="6">
                  <c:v>-292284605.39801699</c:v>
                </c:pt>
                <c:pt idx="7">
                  <c:v>-292285070.01679403</c:v>
                </c:pt>
                <c:pt idx="8">
                  <c:v>-292286220.549842</c:v>
                </c:pt>
                <c:pt idx="9">
                  <c:v>-292287639.50103199</c:v>
                </c:pt>
                <c:pt idx="10">
                  <c:v>-292290546.17285103</c:v>
                </c:pt>
                <c:pt idx="11">
                  <c:v>-292296342.72941798</c:v>
                </c:pt>
                <c:pt idx="12">
                  <c:v>-292301075.91466498</c:v>
                </c:pt>
                <c:pt idx="13">
                  <c:v>-292319094.92755997</c:v>
                </c:pt>
                <c:pt idx="14">
                  <c:v>-292345454.74410999</c:v>
                </c:pt>
                <c:pt idx="15">
                  <c:v>-292359346.96080297</c:v>
                </c:pt>
                <c:pt idx="16">
                  <c:v>-292364774.48182797</c:v>
                </c:pt>
                <c:pt idx="17">
                  <c:v>-292370419.55702603</c:v>
                </c:pt>
                <c:pt idx="18">
                  <c:v>-292380154.74323899</c:v>
                </c:pt>
                <c:pt idx="19">
                  <c:v>-292496395.62497002</c:v>
                </c:pt>
                <c:pt idx="20">
                  <c:v>-292527852.49997002</c:v>
                </c:pt>
                <c:pt idx="21">
                  <c:v>-292590766.24997002</c:v>
                </c:pt>
                <c:pt idx="22">
                  <c:v>-292716593.74997002</c:v>
                </c:pt>
                <c:pt idx="23">
                  <c:v>-292968248.74997002</c:v>
                </c:pt>
                <c:pt idx="24">
                  <c:v>-293471558.74997002</c:v>
                </c:pt>
                <c:pt idx="25">
                  <c:v>-294478178.74997002</c:v>
                </c:pt>
                <c:pt idx="26">
                  <c:v>-296491418.74997002</c:v>
                </c:pt>
                <c:pt idx="27">
                  <c:v>-300517898.74997002</c:v>
                </c:pt>
                <c:pt idx="28">
                  <c:v>-308570858.74997002</c:v>
                </c:pt>
                <c:pt idx="29">
                  <c:v>-324676778.74997002</c:v>
                </c:pt>
                <c:pt idx="30">
                  <c:v>-356888618.74997002</c:v>
                </c:pt>
                <c:pt idx="31">
                  <c:v>-421312298.74997002</c:v>
                </c:pt>
                <c:pt idx="32">
                  <c:v>-550159658.74996996</c:v>
                </c:pt>
                <c:pt idx="33">
                  <c:v>-550159671.33346999</c:v>
                </c:pt>
                <c:pt idx="34">
                  <c:v>-1065579831.33346</c:v>
                </c:pt>
                <c:pt idx="35">
                  <c:v>-1065579818.75146</c:v>
                </c:pt>
                <c:pt idx="36">
                  <c:v>-3127260458.7514601</c:v>
                </c:pt>
                <c:pt idx="37">
                  <c:v>-3127260446.1694598</c:v>
                </c:pt>
                <c:pt idx="38">
                  <c:v>-3127260458.7514701</c:v>
                </c:pt>
                <c:pt idx="39">
                  <c:v>-3127260462.9474602</c:v>
                </c:pt>
                <c:pt idx="40">
                  <c:v>-36110218542.947403</c:v>
                </c:pt>
                <c:pt idx="41">
                  <c:v>-36110218542.752403</c:v>
                </c:pt>
                <c:pt idx="42">
                  <c:v>-167979136302.75201</c:v>
                </c:pt>
                <c:pt idx="43">
                  <c:v>-433730237742.75201</c:v>
                </c:pt>
                <c:pt idx="44">
                  <c:v>-433730237742.72803</c:v>
                </c:pt>
                <c:pt idx="45">
                  <c:v>-433730237742.75403</c:v>
                </c:pt>
                <c:pt idx="46">
                  <c:v>-2495314539822.75</c:v>
                </c:pt>
                <c:pt idx="47">
                  <c:v>-6618483143982.75</c:v>
                </c:pt>
                <c:pt idx="48">
                  <c:v>-14864820352302.699</c:v>
                </c:pt>
              </c:numCache>
            </c:numRef>
          </c:yVal>
          <c:smooth val="0"/>
          <c:extLst>
            <c:ext xmlns:c16="http://schemas.microsoft.com/office/drawing/2014/chart" uri="{C3380CC4-5D6E-409C-BE32-E72D297353CC}">
              <c16:uniqueId val="{00000000-F1BE-4365-97FB-8CEF9BFAA9FC}"/>
            </c:ext>
          </c:extLst>
        </c:ser>
        <c:dLbls>
          <c:showLegendKey val="0"/>
          <c:showVal val="0"/>
          <c:showCatName val="0"/>
          <c:showSerName val="0"/>
          <c:showPercent val="0"/>
          <c:showBubbleSize val="0"/>
        </c:dLbls>
        <c:axId val="1280555935"/>
        <c:axId val="1194140447"/>
      </c:scatterChart>
      <c:valAx>
        <c:axId val="1280555935"/>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Iterations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94140447"/>
        <c:crosses val="autoZero"/>
        <c:crossBetween val="midCat"/>
      </c:valAx>
      <c:valAx>
        <c:axId val="1194140447"/>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P(x)</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80555935"/>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FDB6C11-A39C-45B9-9B60-7987FE0CDB44}" type="datetimeFigureOut">
              <a:rPr lang="en-IN" smtClean="0"/>
              <a:t>09-11-2024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8AEEB93-B352-4B9B-AF2D-7C6F5CE38CBE}" type="slidenum">
              <a:rPr lang="en-IN" smtClean="0"/>
              <a:t>‹#›</a:t>
            </a:fld>
            <a:endParaRPr lang="en-IN"/>
          </a:p>
        </p:txBody>
      </p:sp>
    </p:spTree>
    <p:extLst>
      <p:ext uri="{BB962C8B-B14F-4D97-AF65-F5344CB8AC3E}">
        <p14:creationId xmlns:p14="http://schemas.microsoft.com/office/powerpoint/2010/main" val="2585615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DB6C11-A39C-45B9-9B60-7987FE0CDB44}" type="datetimeFigureOut">
              <a:rPr lang="en-IN" smtClean="0"/>
              <a:t>09-11-2024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8AEEB93-B352-4B9B-AF2D-7C6F5CE38CBE}" type="slidenum">
              <a:rPr lang="en-IN" smtClean="0"/>
              <a:t>‹#›</a:t>
            </a:fld>
            <a:endParaRPr lang="en-IN"/>
          </a:p>
        </p:txBody>
      </p:sp>
    </p:spTree>
    <p:extLst>
      <p:ext uri="{BB962C8B-B14F-4D97-AF65-F5344CB8AC3E}">
        <p14:creationId xmlns:p14="http://schemas.microsoft.com/office/powerpoint/2010/main" val="2250839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FDB6C11-A39C-45B9-9B60-7987FE0CDB44}" type="datetimeFigureOut">
              <a:rPr lang="en-IN" smtClean="0"/>
              <a:t>09-11-2024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8AEEB93-B352-4B9B-AF2D-7C6F5CE38CBE}" type="slidenum">
              <a:rPr lang="en-IN" smtClean="0"/>
              <a:t>‹#›</a:t>
            </a:fld>
            <a:endParaRPr lang="en-IN"/>
          </a:p>
        </p:txBody>
      </p:sp>
    </p:spTree>
    <p:extLst>
      <p:ext uri="{BB962C8B-B14F-4D97-AF65-F5344CB8AC3E}">
        <p14:creationId xmlns:p14="http://schemas.microsoft.com/office/powerpoint/2010/main" val="26466973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FDB6C11-A39C-45B9-9B60-7987FE0CDB44}" type="datetimeFigureOut">
              <a:rPr lang="en-IN" smtClean="0"/>
              <a:t>09-11-2024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8AEEB93-B352-4B9B-AF2D-7C6F5CE38CBE}" type="slidenum">
              <a:rPr lang="en-IN" smtClean="0"/>
              <a:t>‹#›</a:t>
            </a:fld>
            <a:endParaRPr lang="en-IN"/>
          </a:p>
        </p:txBody>
      </p:sp>
    </p:spTree>
    <p:extLst>
      <p:ext uri="{BB962C8B-B14F-4D97-AF65-F5344CB8AC3E}">
        <p14:creationId xmlns:p14="http://schemas.microsoft.com/office/powerpoint/2010/main" val="33450273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FDB6C11-A39C-45B9-9B60-7987FE0CDB44}" type="datetimeFigureOut">
              <a:rPr lang="en-IN" smtClean="0"/>
              <a:t>09-11-2024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8AEEB93-B352-4B9B-AF2D-7C6F5CE38CBE}" type="slidenum">
              <a:rPr lang="en-IN" smtClean="0"/>
              <a:t>‹#›</a:t>
            </a:fld>
            <a:endParaRPr lang="en-IN"/>
          </a:p>
        </p:txBody>
      </p:sp>
    </p:spTree>
    <p:extLst>
      <p:ext uri="{BB962C8B-B14F-4D97-AF65-F5344CB8AC3E}">
        <p14:creationId xmlns:p14="http://schemas.microsoft.com/office/powerpoint/2010/main" val="17742160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FDB6C11-A39C-45B9-9B60-7987FE0CDB44}" type="datetimeFigureOut">
              <a:rPr lang="en-IN" smtClean="0"/>
              <a:t>09-11-2024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8AEEB93-B352-4B9B-AF2D-7C6F5CE38CBE}" type="slidenum">
              <a:rPr lang="en-IN" smtClean="0"/>
              <a:t>‹#›</a:t>
            </a:fld>
            <a:endParaRPr lang="en-IN"/>
          </a:p>
        </p:txBody>
      </p:sp>
    </p:spTree>
    <p:extLst>
      <p:ext uri="{BB962C8B-B14F-4D97-AF65-F5344CB8AC3E}">
        <p14:creationId xmlns:p14="http://schemas.microsoft.com/office/powerpoint/2010/main" val="2987073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DB6C11-A39C-45B9-9B60-7987FE0CDB44}" type="datetimeFigureOut">
              <a:rPr lang="en-IN" smtClean="0"/>
              <a:t>09-11-2024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8AEEB93-B352-4B9B-AF2D-7C6F5CE38CBE}" type="slidenum">
              <a:rPr lang="en-IN" smtClean="0"/>
              <a:t>‹#›</a:t>
            </a:fld>
            <a:endParaRPr lang="en-IN"/>
          </a:p>
        </p:txBody>
      </p:sp>
    </p:spTree>
    <p:extLst>
      <p:ext uri="{BB962C8B-B14F-4D97-AF65-F5344CB8AC3E}">
        <p14:creationId xmlns:p14="http://schemas.microsoft.com/office/powerpoint/2010/main" val="27128303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FDB6C11-A39C-45B9-9B60-7987FE0CDB44}" type="datetimeFigureOut">
              <a:rPr lang="en-IN" smtClean="0"/>
              <a:t>09-11-2024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8AEEB93-B352-4B9B-AF2D-7C6F5CE38CBE}" type="slidenum">
              <a:rPr lang="en-IN" smtClean="0"/>
              <a:t>‹#›</a:t>
            </a:fld>
            <a:endParaRPr lang="en-IN"/>
          </a:p>
        </p:txBody>
      </p:sp>
    </p:spTree>
    <p:extLst>
      <p:ext uri="{BB962C8B-B14F-4D97-AF65-F5344CB8AC3E}">
        <p14:creationId xmlns:p14="http://schemas.microsoft.com/office/powerpoint/2010/main" val="36304133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7FDB6C11-A39C-45B9-9B60-7987FE0CDB44}" type="datetimeFigureOut">
              <a:rPr lang="en-IN" smtClean="0"/>
              <a:t>09-11-2024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8AEEB93-B352-4B9B-AF2D-7C6F5CE38CBE}" type="slidenum">
              <a:rPr lang="en-IN" smtClean="0"/>
              <a:t>‹#›</a:t>
            </a:fld>
            <a:endParaRPr lang="en-IN"/>
          </a:p>
        </p:txBody>
      </p:sp>
    </p:spTree>
    <p:extLst>
      <p:ext uri="{BB962C8B-B14F-4D97-AF65-F5344CB8AC3E}">
        <p14:creationId xmlns:p14="http://schemas.microsoft.com/office/powerpoint/2010/main" val="10933426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FDB6C11-A39C-45B9-9B60-7987FE0CDB44}" type="datetimeFigureOut">
              <a:rPr lang="en-IN" smtClean="0"/>
              <a:t>09-11-2024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8AEEB93-B352-4B9B-AF2D-7C6F5CE38CBE}" type="slidenum">
              <a:rPr lang="en-IN" smtClean="0"/>
              <a:t>‹#›</a:t>
            </a:fld>
            <a:endParaRPr lang="en-IN"/>
          </a:p>
        </p:txBody>
      </p:sp>
    </p:spTree>
    <p:extLst>
      <p:ext uri="{BB962C8B-B14F-4D97-AF65-F5344CB8AC3E}">
        <p14:creationId xmlns:p14="http://schemas.microsoft.com/office/powerpoint/2010/main" val="17545407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FDB6C11-A39C-45B9-9B60-7987FE0CDB44}" type="datetimeFigureOut">
              <a:rPr lang="en-IN" smtClean="0"/>
              <a:t>09-11-2024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8AEEB93-B352-4B9B-AF2D-7C6F5CE38CBE}"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8851710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FDB6C11-A39C-45B9-9B60-7987FE0CDB44}" type="datetimeFigureOut">
              <a:rPr lang="en-IN" smtClean="0"/>
              <a:t>09-11-2024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8AEEB93-B352-4B9B-AF2D-7C6F5CE38CBE}" type="slidenum">
              <a:rPr lang="en-IN" smtClean="0"/>
              <a:t>‹#›</a:t>
            </a:fld>
            <a:endParaRPr lang="en-IN"/>
          </a:p>
        </p:txBody>
      </p:sp>
    </p:spTree>
    <p:extLst>
      <p:ext uri="{BB962C8B-B14F-4D97-AF65-F5344CB8AC3E}">
        <p14:creationId xmlns:p14="http://schemas.microsoft.com/office/powerpoint/2010/main" val="19096510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FDB6C11-A39C-45B9-9B60-7987FE0CDB44}" type="datetimeFigureOut">
              <a:rPr lang="en-IN" smtClean="0"/>
              <a:t>09-11-2024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8AEEB93-B352-4B9B-AF2D-7C6F5CE38CBE}"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1878931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FDB6C11-A39C-45B9-9B60-7987FE0CDB44}" type="datetimeFigureOut">
              <a:rPr lang="en-IN" smtClean="0"/>
              <a:t>09-11-2024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8AEEB93-B352-4B9B-AF2D-7C6F5CE38CBE}" type="slidenum">
              <a:rPr lang="en-IN" smtClean="0"/>
              <a:t>‹#›</a:t>
            </a:fld>
            <a:endParaRPr lang="en-IN"/>
          </a:p>
        </p:txBody>
      </p:sp>
    </p:spTree>
    <p:extLst>
      <p:ext uri="{BB962C8B-B14F-4D97-AF65-F5344CB8AC3E}">
        <p14:creationId xmlns:p14="http://schemas.microsoft.com/office/powerpoint/2010/main" val="5387406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DB6C11-A39C-45B9-9B60-7987FE0CDB44}" type="datetimeFigureOut">
              <a:rPr lang="en-IN" smtClean="0"/>
              <a:t>09-11-2024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8AEEB93-B352-4B9B-AF2D-7C6F5CE38CBE}" type="slidenum">
              <a:rPr lang="en-IN" smtClean="0"/>
              <a:t>‹#›</a:t>
            </a:fld>
            <a:endParaRPr lang="en-IN"/>
          </a:p>
        </p:txBody>
      </p:sp>
    </p:spTree>
    <p:extLst>
      <p:ext uri="{BB962C8B-B14F-4D97-AF65-F5344CB8AC3E}">
        <p14:creationId xmlns:p14="http://schemas.microsoft.com/office/powerpoint/2010/main" val="13701121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DB6C11-A39C-45B9-9B60-7987FE0CDB44}" type="datetimeFigureOut">
              <a:rPr lang="en-IN" smtClean="0"/>
              <a:t>09-11-2024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8AEEB93-B352-4B9B-AF2D-7C6F5CE38CBE}" type="slidenum">
              <a:rPr lang="en-IN" smtClean="0"/>
              <a:t>‹#›</a:t>
            </a:fld>
            <a:endParaRPr lang="en-IN"/>
          </a:p>
        </p:txBody>
      </p:sp>
    </p:spTree>
    <p:extLst>
      <p:ext uri="{BB962C8B-B14F-4D97-AF65-F5344CB8AC3E}">
        <p14:creationId xmlns:p14="http://schemas.microsoft.com/office/powerpoint/2010/main" val="13878290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FDB6C11-A39C-45B9-9B60-7987FE0CDB44}" type="datetimeFigureOut">
              <a:rPr lang="en-IN" smtClean="0"/>
              <a:t>09-11-2024</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48AEEB93-B352-4B9B-AF2D-7C6F5CE38CBE}" type="slidenum">
              <a:rPr lang="en-IN" smtClean="0"/>
              <a:t>‹#›</a:t>
            </a:fld>
            <a:endParaRPr lang="en-IN"/>
          </a:p>
        </p:txBody>
      </p:sp>
    </p:spTree>
    <p:extLst>
      <p:ext uri="{BB962C8B-B14F-4D97-AF65-F5344CB8AC3E}">
        <p14:creationId xmlns:p14="http://schemas.microsoft.com/office/powerpoint/2010/main" val="2183939724"/>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 id="2147483755" r:id="rId12"/>
    <p:sldLayoutId id="2147483756" r:id="rId13"/>
    <p:sldLayoutId id="2147483757" r:id="rId14"/>
    <p:sldLayoutId id="2147483758" r:id="rId15"/>
    <p:sldLayoutId id="21474837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7.xml"/><Relationship Id="rId5" Type="http://schemas.openxmlformats.org/officeDocument/2006/relationships/chart" Target="../charts/chart5.xml"/><Relationship Id="rId4" Type="http://schemas.openxmlformats.org/officeDocument/2006/relationships/chart" Target="../charts/chart4.xml"/></Relationships>
</file>

<file path=ppt/slides/_rels/slide8.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chart" Target="../charts/chart9.xml"/><Relationship Id="rId1" Type="http://schemas.openxmlformats.org/officeDocument/2006/relationships/slideLayout" Target="../slideLayouts/slideLayout7.xml"/><Relationship Id="rId5" Type="http://schemas.openxmlformats.org/officeDocument/2006/relationships/chart" Target="../charts/chart12.xml"/><Relationship Id="rId4" Type="http://schemas.openxmlformats.org/officeDocument/2006/relationships/chart" Target="../charts/chart11.xml"/></Relationships>
</file>

<file path=ppt/slides/_rels/slide13.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chart" Target="../charts/chart1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chart" Target="../charts/chart15.xml"/><Relationship Id="rId1" Type="http://schemas.openxmlformats.org/officeDocument/2006/relationships/slideLayout" Target="../slideLayouts/slideLayout7.xml"/><Relationship Id="rId5" Type="http://schemas.openxmlformats.org/officeDocument/2006/relationships/chart" Target="../charts/chart18.xml"/><Relationship Id="rId4" Type="http://schemas.openxmlformats.org/officeDocument/2006/relationships/chart" Target="../charts/chart17.xml"/></Relationships>
</file>

<file path=ppt/slides/_rels/slide21.xml.rels><?xml version="1.0" encoding="UTF-8" standalone="yes"?>
<Relationships xmlns="http://schemas.openxmlformats.org/package/2006/relationships"><Relationship Id="rId2" Type="http://schemas.openxmlformats.org/officeDocument/2006/relationships/chart" Target="../charts/chart19.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671DA-7CB7-4EA3-89A0-F540808C47CF}"/>
              </a:ext>
            </a:extLst>
          </p:cNvPr>
          <p:cNvSpPr>
            <a:spLocks noGrp="1"/>
          </p:cNvSpPr>
          <p:nvPr>
            <p:ph type="ctrTitle"/>
          </p:nvPr>
        </p:nvSpPr>
        <p:spPr/>
        <p:txBody>
          <a:bodyPr>
            <a:normAutofit/>
          </a:bodyPr>
          <a:lstStyle/>
          <a:p>
            <a:r>
              <a:rPr lang="en-US" sz="4800" b="1" dirty="0">
                <a:solidFill>
                  <a:srgbClr val="0070C0"/>
                </a:solidFill>
              </a:rPr>
              <a:t>Multivariable Constrained Optimization</a:t>
            </a:r>
            <a:endParaRPr lang="en-IN" sz="4800" b="1" dirty="0">
              <a:solidFill>
                <a:srgbClr val="0070C0"/>
              </a:solidFill>
            </a:endParaRPr>
          </a:p>
        </p:txBody>
      </p:sp>
      <p:sp>
        <p:nvSpPr>
          <p:cNvPr id="3" name="Subtitle 2">
            <a:extLst>
              <a:ext uri="{FF2B5EF4-FFF2-40B4-BE49-F238E27FC236}">
                <a16:creationId xmlns:a16="http://schemas.microsoft.com/office/drawing/2014/main" id="{342FB767-BEDF-4CFB-80BD-5D8982238B0F}"/>
              </a:ext>
            </a:extLst>
          </p:cNvPr>
          <p:cNvSpPr>
            <a:spLocks noGrp="1"/>
          </p:cNvSpPr>
          <p:nvPr>
            <p:ph type="subTitle" idx="1"/>
          </p:nvPr>
        </p:nvSpPr>
        <p:spPr>
          <a:xfrm>
            <a:off x="753103" y="4359635"/>
            <a:ext cx="8637072" cy="977621"/>
          </a:xfrm>
        </p:spPr>
        <p:txBody>
          <a:bodyPr/>
          <a:lstStyle/>
          <a:p>
            <a:r>
              <a:rPr lang="en-US" dirty="0"/>
              <a:t>Dushyant Pratap Singh</a:t>
            </a:r>
          </a:p>
          <a:p>
            <a:r>
              <a:rPr lang="en-US" dirty="0"/>
              <a:t>244103101</a:t>
            </a:r>
            <a:endParaRPr lang="en-IN" dirty="0"/>
          </a:p>
        </p:txBody>
      </p:sp>
    </p:spTree>
    <p:extLst>
      <p:ext uri="{BB962C8B-B14F-4D97-AF65-F5344CB8AC3E}">
        <p14:creationId xmlns:p14="http://schemas.microsoft.com/office/powerpoint/2010/main" val="19081571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owchart: Terminator 1">
            <a:extLst>
              <a:ext uri="{FF2B5EF4-FFF2-40B4-BE49-F238E27FC236}">
                <a16:creationId xmlns:a16="http://schemas.microsoft.com/office/drawing/2014/main" id="{51C3894E-DB03-42CA-8285-41706936D2D0}"/>
              </a:ext>
            </a:extLst>
          </p:cNvPr>
          <p:cNvSpPr/>
          <p:nvPr/>
        </p:nvSpPr>
        <p:spPr>
          <a:xfrm>
            <a:off x="5297008" y="599953"/>
            <a:ext cx="914400" cy="301752"/>
          </a:xfrm>
          <a:prstGeom prst="flowChartTerminator">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rPr>
              <a:t>start</a:t>
            </a:r>
            <a:endParaRPr lang="en-IN" dirty="0"/>
          </a:p>
        </p:txBody>
      </p:sp>
      <p:sp>
        <p:nvSpPr>
          <p:cNvPr id="3" name="Flowchart: Data 2">
            <a:extLst>
              <a:ext uri="{FF2B5EF4-FFF2-40B4-BE49-F238E27FC236}">
                <a16:creationId xmlns:a16="http://schemas.microsoft.com/office/drawing/2014/main" id="{74B7C891-FED6-4A91-B6A7-58511F0C7668}"/>
              </a:ext>
            </a:extLst>
          </p:cNvPr>
          <p:cNvSpPr/>
          <p:nvPr/>
        </p:nvSpPr>
        <p:spPr>
          <a:xfrm>
            <a:off x="1182209" y="1168142"/>
            <a:ext cx="9827581" cy="621437"/>
          </a:xfrm>
          <a:prstGeom prst="flowChartInputOutpu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rPr>
              <a:t>Read number of variables(n),number of constraints(m), and bounds on the variables from the input file</a:t>
            </a:r>
            <a:endParaRPr lang="en-IN" dirty="0">
              <a:ln w="0"/>
              <a:solidFill>
                <a:schemeClr val="tx1"/>
              </a:solidFill>
            </a:endParaRPr>
          </a:p>
        </p:txBody>
      </p:sp>
      <p:sp>
        <p:nvSpPr>
          <p:cNvPr id="4" name="Rectangle 3">
            <a:extLst>
              <a:ext uri="{FF2B5EF4-FFF2-40B4-BE49-F238E27FC236}">
                <a16:creationId xmlns:a16="http://schemas.microsoft.com/office/drawing/2014/main" id="{94C65828-F5D3-4931-B23C-16C1DD5F42E3}"/>
              </a:ext>
            </a:extLst>
          </p:cNvPr>
          <p:cNvSpPr/>
          <p:nvPr/>
        </p:nvSpPr>
        <p:spPr>
          <a:xfrm>
            <a:off x="2114365" y="2074287"/>
            <a:ext cx="7048870" cy="461640"/>
          </a:xfrm>
          <a:prstGeom prst="rect">
            <a:avLst/>
          </a:prstGeom>
          <a:solidFill>
            <a:schemeClr val="accent6">
              <a:lumMod val="40000"/>
              <a:lumOff val="6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solidFill>
                  <a:schemeClr val="tx1"/>
                </a:solidFill>
              </a:rPr>
              <a:t>Pass the variables to the bracket operator penalty function</a:t>
            </a:r>
            <a:endParaRPr lang="en-IN" dirty="0">
              <a:solidFill>
                <a:schemeClr val="tx1"/>
              </a:solidFill>
            </a:endParaRPr>
          </a:p>
        </p:txBody>
      </p:sp>
      <p:sp>
        <p:nvSpPr>
          <p:cNvPr id="5" name="Flowchart: Process 4">
            <a:extLst>
              <a:ext uri="{FF2B5EF4-FFF2-40B4-BE49-F238E27FC236}">
                <a16:creationId xmlns:a16="http://schemas.microsoft.com/office/drawing/2014/main" id="{91EF11D0-3834-4F62-8A0A-5436B96B3FC5}"/>
              </a:ext>
            </a:extLst>
          </p:cNvPr>
          <p:cNvSpPr/>
          <p:nvPr/>
        </p:nvSpPr>
        <p:spPr>
          <a:xfrm>
            <a:off x="5299969" y="4545367"/>
            <a:ext cx="914400" cy="612648"/>
          </a:xfrm>
          <a:prstGeom prst="flowChartProcess">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Flowchart: Process 5">
            <a:extLst>
              <a:ext uri="{FF2B5EF4-FFF2-40B4-BE49-F238E27FC236}">
                <a16:creationId xmlns:a16="http://schemas.microsoft.com/office/drawing/2014/main" id="{D6D32187-C0B6-48CB-B782-F15F5A37987B}"/>
              </a:ext>
            </a:extLst>
          </p:cNvPr>
          <p:cNvSpPr/>
          <p:nvPr/>
        </p:nvSpPr>
        <p:spPr>
          <a:xfrm>
            <a:off x="1913196" y="2808954"/>
            <a:ext cx="7368410" cy="972498"/>
          </a:xfrm>
          <a:prstGeom prst="flowChartProcess">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ln w="0"/>
                <a:solidFill>
                  <a:schemeClr val="tx1"/>
                </a:solidFill>
              </a:rPr>
              <a:t>Performing Marquart’s multivariable method and applying unidirectional search by Converting multivariable problem into single variable problem by Bounding phase and secant method</a:t>
            </a:r>
            <a:endParaRPr lang="en-IN" dirty="0">
              <a:ln w="0"/>
              <a:solidFill>
                <a:schemeClr val="tx1"/>
              </a:solidFill>
            </a:endParaRPr>
          </a:p>
          <a:p>
            <a:pPr algn="ctr"/>
            <a:endParaRPr lang="en-IN" dirty="0">
              <a:ln w="0"/>
              <a:solidFill>
                <a:schemeClr val="tx1"/>
              </a:solidFill>
              <a:effectLst>
                <a:outerShdw blurRad="38100" dist="19050" dir="2700000" algn="tl" rotWithShape="0">
                  <a:schemeClr val="dk1">
                    <a:alpha val="40000"/>
                  </a:schemeClr>
                </a:outerShdw>
              </a:effectLst>
            </a:endParaRPr>
          </a:p>
        </p:txBody>
      </p:sp>
      <p:sp>
        <p:nvSpPr>
          <p:cNvPr id="8" name="Flowchart: Decision 7">
            <a:extLst>
              <a:ext uri="{FF2B5EF4-FFF2-40B4-BE49-F238E27FC236}">
                <a16:creationId xmlns:a16="http://schemas.microsoft.com/office/drawing/2014/main" id="{1C62026C-2FE7-4C65-B78E-90AE030C8A15}"/>
              </a:ext>
            </a:extLst>
          </p:cNvPr>
          <p:cNvSpPr/>
          <p:nvPr/>
        </p:nvSpPr>
        <p:spPr>
          <a:xfrm>
            <a:off x="4318986" y="4314326"/>
            <a:ext cx="2876365" cy="795650"/>
          </a:xfrm>
          <a:prstGeom prst="flowChartDecision">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rPr>
              <a:t>Termination Condition</a:t>
            </a:r>
            <a:endParaRPr lang="en-IN" dirty="0">
              <a:ln w="0"/>
              <a:solidFill>
                <a:schemeClr val="tx1"/>
              </a:solidFill>
            </a:endParaRPr>
          </a:p>
        </p:txBody>
      </p:sp>
      <p:sp>
        <p:nvSpPr>
          <p:cNvPr id="9" name="Flowchart: Process 8">
            <a:extLst>
              <a:ext uri="{FF2B5EF4-FFF2-40B4-BE49-F238E27FC236}">
                <a16:creationId xmlns:a16="http://schemas.microsoft.com/office/drawing/2014/main" id="{E994C49F-0471-4AE1-B29C-F71099FDBDF6}"/>
              </a:ext>
            </a:extLst>
          </p:cNvPr>
          <p:cNvSpPr/>
          <p:nvPr/>
        </p:nvSpPr>
        <p:spPr>
          <a:xfrm>
            <a:off x="4318986" y="5397414"/>
            <a:ext cx="2876365" cy="612648"/>
          </a:xfrm>
          <a:prstGeom prst="flowChartProcess">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Optimal Solution</a:t>
            </a:r>
            <a:endParaRPr lang="en-IN" dirty="0">
              <a:solidFill>
                <a:schemeClr val="tx1"/>
              </a:solidFill>
            </a:endParaRPr>
          </a:p>
        </p:txBody>
      </p:sp>
      <p:sp>
        <p:nvSpPr>
          <p:cNvPr id="10" name="Flowchart: Terminator 9">
            <a:extLst>
              <a:ext uri="{FF2B5EF4-FFF2-40B4-BE49-F238E27FC236}">
                <a16:creationId xmlns:a16="http://schemas.microsoft.com/office/drawing/2014/main" id="{33DBFA12-67E8-4893-95AB-13E9386DE9EF}"/>
              </a:ext>
            </a:extLst>
          </p:cNvPr>
          <p:cNvSpPr/>
          <p:nvPr/>
        </p:nvSpPr>
        <p:spPr>
          <a:xfrm>
            <a:off x="5297008" y="6267273"/>
            <a:ext cx="914400" cy="301752"/>
          </a:xfrm>
          <a:prstGeom prst="flowChartTerminator">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end</a:t>
            </a:r>
            <a:endParaRPr lang="en-IN" dirty="0">
              <a:solidFill>
                <a:schemeClr val="tx1"/>
              </a:solidFill>
            </a:endParaRPr>
          </a:p>
        </p:txBody>
      </p:sp>
      <p:cxnSp>
        <p:nvCxnSpPr>
          <p:cNvPr id="22" name="Straight Connector 21">
            <a:extLst>
              <a:ext uri="{FF2B5EF4-FFF2-40B4-BE49-F238E27FC236}">
                <a16:creationId xmlns:a16="http://schemas.microsoft.com/office/drawing/2014/main" id="{C89C5E4F-0C7C-4183-82B5-A20BF8427F21}"/>
              </a:ext>
            </a:extLst>
          </p:cNvPr>
          <p:cNvCxnSpPr>
            <a:cxnSpLocks/>
            <a:stCxn id="8" idx="3"/>
          </p:cNvCxnSpPr>
          <p:nvPr/>
        </p:nvCxnSpPr>
        <p:spPr>
          <a:xfrm flipV="1">
            <a:off x="7195351" y="4678770"/>
            <a:ext cx="3194482" cy="33381"/>
          </a:xfrm>
          <a:prstGeom prst="line">
            <a:avLst/>
          </a:prstGeom>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3754B9D1-6B03-44A8-B51A-B10BFBFAD6AC}"/>
              </a:ext>
            </a:extLst>
          </p:cNvPr>
          <p:cNvCxnSpPr>
            <a:cxnSpLocks/>
          </p:cNvCxnSpPr>
          <p:nvPr/>
        </p:nvCxnSpPr>
        <p:spPr>
          <a:xfrm flipV="1">
            <a:off x="10380955" y="3647506"/>
            <a:ext cx="0" cy="1064645"/>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4945A26D-49E5-4556-B24E-657E1EA370EE}"/>
              </a:ext>
            </a:extLst>
          </p:cNvPr>
          <p:cNvCxnSpPr>
            <a:cxnSpLocks/>
          </p:cNvCxnSpPr>
          <p:nvPr/>
        </p:nvCxnSpPr>
        <p:spPr>
          <a:xfrm flipH="1">
            <a:off x="9290483" y="3647506"/>
            <a:ext cx="109047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6039251B-A48F-4F39-BA51-8C6126823183}"/>
              </a:ext>
            </a:extLst>
          </p:cNvPr>
          <p:cNvCxnSpPr>
            <a:cxnSpLocks/>
            <a:stCxn id="2" idx="2"/>
          </p:cNvCxnSpPr>
          <p:nvPr/>
        </p:nvCxnSpPr>
        <p:spPr>
          <a:xfrm>
            <a:off x="5754208" y="901705"/>
            <a:ext cx="0" cy="2310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641908EC-EC2A-47A5-8F94-667B69459A7C}"/>
              </a:ext>
            </a:extLst>
          </p:cNvPr>
          <p:cNvCxnSpPr>
            <a:cxnSpLocks/>
          </p:cNvCxnSpPr>
          <p:nvPr/>
        </p:nvCxnSpPr>
        <p:spPr>
          <a:xfrm>
            <a:off x="5745329" y="1843246"/>
            <a:ext cx="0" cy="2310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0A769A31-AD76-4CF1-B996-1DB49DEE0DC2}"/>
              </a:ext>
            </a:extLst>
          </p:cNvPr>
          <p:cNvCxnSpPr>
            <a:cxnSpLocks/>
          </p:cNvCxnSpPr>
          <p:nvPr/>
        </p:nvCxnSpPr>
        <p:spPr>
          <a:xfrm>
            <a:off x="5740891" y="2577913"/>
            <a:ext cx="0" cy="2310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CD2E6879-EE48-42CD-B888-35A9A328D15B}"/>
              </a:ext>
            </a:extLst>
          </p:cNvPr>
          <p:cNvCxnSpPr>
            <a:cxnSpLocks/>
          </p:cNvCxnSpPr>
          <p:nvPr/>
        </p:nvCxnSpPr>
        <p:spPr>
          <a:xfrm>
            <a:off x="5740891" y="3819303"/>
            <a:ext cx="0" cy="4110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5907DE36-4297-4CBB-A7C0-A4AF306277CE}"/>
              </a:ext>
            </a:extLst>
          </p:cNvPr>
          <p:cNvCxnSpPr>
            <a:cxnSpLocks/>
          </p:cNvCxnSpPr>
          <p:nvPr/>
        </p:nvCxnSpPr>
        <p:spPr>
          <a:xfrm>
            <a:off x="5758646" y="5158015"/>
            <a:ext cx="0" cy="2310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49F41785-F829-4073-A01D-7684F5095E76}"/>
              </a:ext>
            </a:extLst>
          </p:cNvPr>
          <p:cNvCxnSpPr>
            <a:cxnSpLocks/>
          </p:cNvCxnSpPr>
          <p:nvPr/>
        </p:nvCxnSpPr>
        <p:spPr>
          <a:xfrm>
            <a:off x="5754208" y="6010062"/>
            <a:ext cx="0" cy="2310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E1828604-1815-44DF-BD8B-6CF06CE0DF95}"/>
              </a:ext>
            </a:extLst>
          </p:cNvPr>
          <p:cNvSpPr txBox="1"/>
          <p:nvPr/>
        </p:nvSpPr>
        <p:spPr>
          <a:xfrm>
            <a:off x="8685434" y="4374214"/>
            <a:ext cx="714539" cy="369332"/>
          </a:xfrm>
          <a:prstGeom prst="rect">
            <a:avLst/>
          </a:prstGeom>
          <a:noFill/>
        </p:spPr>
        <p:txBody>
          <a:bodyPr wrap="square" rtlCol="0">
            <a:spAutoFit/>
          </a:bodyPr>
          <a:lstStyle/>
          <a:p>
            <a:r>
              <a:rPr lang="en-US" dirty="0">
                <a:solidFill>
                  <a:srgbClr val="C00000"/>
                </a:solidFill>
              </a:rPr>
              <a:t>No</a:t>
            </a:r>
            <a:endParaRPr lang="en-IN" dirty="0">
              <a:solidFill>
                <a:srgbClr val="C00000"/>
              </a:solidFill>
            </a:endParaRPr>
          </a:p>
        </p:txBody>
      </p:sp>
      <p:sp>
        <p:nvSpPr>
          <p:cNvPr id="44" name="TextBox 43">
            <a:extLst>
              <a:ext uri="{FF2B5EF4-FFF2-40B4-BE49-F238E27FC236}">
                <a16:creationId xmlns:a16="http://schemas.microsoft.com/office/drawing/2014/main" id="{BE24FD29-8440-4718-875B-F40317F83629}"/>
              </a:ext>
            </a:extLst>
          </p:cNvPr>
          <p:cNvSpPr txBox="1"/>
          <p:nvPr/>
        </p:nvSpPr>
        <p:spPr>
          <a:xfrm>
            <a:off x="5860638" y="5119390"/>
            <a:ext cx="615622" cy="369332"/>
          </a:xfrm>
          <a:prstGeom prst="rect">
            <a:avLst/>
          </a:prstGeom>
          <a:noFill/>
        </p:spPr>
        <p:txBody>
          <a:bodyPr wrap="square" rtlCol="0">
            <a:spAutoFit/>
          </a:bodyPr>
          <a:lstStyle/>
          <a:p>
            <a:r>
              <a:rPr lang="en-US" dirty="0">
                <a:solidFill>
                  <a:srgbClr val="C00000"/>
                </a:solidFill>
              </a:rPr>
              <a:t>YES</a:t>
            </a:r>
            <a:endParaRPr lang="en-IN" dirty="0">
              <a:solidFill>
                <a:srgbClr val="C00000"/>
              </a:solidFill>
            </a:endParaRPr>
          </a:p>
        </p:txBody>
      </p:sp>
      <p:sp>
        <p:nvSpPr>
          <p:cNvPr id="45" name="TextBox 44">
            <a:extLst>
              <a:ext uri="{FF2B5EF4-FFF2-40B4-BE49-F238E27FC236}">
                <a16:creationId xmlns:a16="http://schemas.microsoft.com/office/drawing/2014/main" id="{3BC99136-71AE-4E85-A923-15A73586AE54}"/>
              </a:ext>
            </a:extLst>
          </p:cNvPr>
          <p:cNvSpPr txBox="1"/>
          <p:nvPr/>
        </p:nvSpPr>
        <p:spPr>
          <a:xfrm>
            <a:off x="435006" y="390083"/>
            <a:ext cx="2396967" cy="584775"/>
          </a:xfrm>
          <a:prstGeom prst="rect">
            <a:avLst/>
          </a:prstGeom>
          <a:noFill/>
        </p:spPr>
        <p:txBody>
          <a:bodyPr wrap="square" rtlCol="0">
            <a:spAutoFit/>
          </a:bodyPr>
          <a:lstStyle/>
          <a:p>
            <a:r>
              <a:rPr lang="en-US" sz="3200" b="1" dirty="0"/>
              <a:t>Flowchart</a:t>
            </a:r>
            <a:endParaRPr lang="en-IN" sz="3200" b="1" dirty="0"/>
          </a:p>
        </p:txBody>
      </p:sp>
    </p:spTree>
    <p:extLst>
      <p:ext uri="{BB962C8B-B14F-4D97-AF65-F5344CB8AC3E}">
        <p14:creationId xmlns:p14="http://schemas.microsoft.com/office/powerpoint/2010/main" val="30086684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7B7EC-BCB7-4E2B-8662-0ED3A29F3725}"/>
              </a:ext>
            </a:extLst>
          </p:cNvPr>
          <p:cNvSpPr>
            <a:spLocks noGrp="1"/>
          </p:cNvSpPr>
          <p:nvPr>
            <p:ph type="title"/>
          </p:nvPr>
        </p:nvSpPr>
        <p:spPr/>
        <p:txBody>
          <a:bodyPr/>
          <a:lstStyle/>
          <a:p>
            <a:r>
              <a:rPr lang="en-US" dirty="0"/>
              <a:t>Bracket Operator Penalty method</a:t>
            </a:r>
            <a:endParaRPr lang="en-IN" dirty="0"/>
          </a:p>
        </p:txBody>
      </p:sp>
      <p:sp>
        <p:nvSpPr>
          <p:cNvPr id="3" name="Content Placeholder 2">
            <a:extLst>
              <a:ext uri="{FF2B5EF4-FFF2-40B4-BE49-F238E27FC236}">
                <a16:creationId xmlns:a16="http://schemas.microsoft.com/office/drawing/2014/main" id="{052D841C-01C5-4A74-A1A7-3588D2439146}"/>
              </a:ext>
            </a:extLst>
          </p:cNvPr>
          <p:cNvSpPr>
            <a:spLocks noGrp="1"/>
          </p:cNvSpPr>
          <p:nvPr>
            <p:ph idx="1"/>
          </p:nvPr>
        </p:nvSpPr>
        <p:spPr/>
        <p:txBody>
          <a:bodyPr/>
          <a:lstStyle/>
          <a:p>
            <a:r>
              <a:rPr lang="en-US" dirty="0"/>
              <a:t>This penalty method converts the constrained optimization problem into the unconstrained optimization problem.</a:t>
            </a:r>
          </a:p>
          <a:p>
            <a:r>
              <a:rPr lang="en-US" dirty="0"/>
              <a:t>It assigns the positive value for all the exterior penalty terms.</a:t>
            </a:r>
          </a:p>
          <a:p>
            <a:r>
              <a:rPr lang="en-US" dirty="0"/>
              <a:t>It’s first sequence begins with a small penalty parameter R which increases subsequently.</a:t>
            </a:r>
          </a:p>
          <a:p>
            <a:r>
              <a:rPr lang="en-US" dirty="0"/>
              <a:t>This operator mostly used in handling the inequality constrained.</a:t>
            </a:r>
            <a:endParaRPr lang="en-IN" dirty="0"/>
          </a:p>
        </p:txBody>
      </p:sp>
    </p:spTree>
    <p:extLst>
      <p:ext uri="{BB962C8B-B14F-4D97-AF65-F5344CB8AC3E}">
        <p14:creationId xmlns:p14="http://schemas.microsoft.com/office/powerpoint/2010/main" val="40284992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7685C-B319-44E2-8945-3B0CC0D6664A}"/>
              </a:ext>
            </a:extLst>
          </p:cNvPr>
          <p:cNvSpPr>
            <a:spLocks noGrp="1"/>
          </p:cNvSpPr>
          <p:nvPr>
            <p:ph type="title"/>
          </p:nvPr>
        </p:nvSpPr>
        <p:spPr/>
        <p:txBody>
          <a:bodyPr/>
          <a:lstStyle/>
          <a:p>
            <a:r>
              <a:rPr lang="en-US" dirty="0"/>
              <a:t>Marquart’s Method</a:t>
            </a:r>
            <a:endParaRPr lang="en-IN" dirty="0"/>
          </a:p>
        </p:txBody>
      </p:sp>
      <p:sp>
        <p:nvSpPr>
          <p:cNvPr id="3" name="TextBox 2">
            <a:extLst>
              <a:ext uri="{FF2B5EF4-FFF2-40B4-BE49-F238E27FC236}">
                <a16:creationId xmlns:a16="http://schemas.microsoft.com/office/drawing/2014/main" id="{4C511D7F-74DF-425D-94D1-BDBB49F50940}"/>
              </a:ext>
            </a:extLst>
          </p:cNvPr>
          <p:cNvSpPr txBox="1"/>
          <p:nvPr/>
        </p:nvSpPr>
        <p:spPr>
          <a:xfrm>
            <a:off x="673710" y="2028970"/>
            <a:ext cx="9550400" cy="3139321"/>
          </a:xfrm>
          <a:prstGeom prst="rect">
            <a:avLst/>
          </a:prstGeom>
          <a:noFill/>
        </p:spPr>
        <p:txBody>
          <a:bodyPr wrap="square" rtlCol="0">
            <a:spAutoFit/>
          </a:bodyPr>
          <a:lstStyle/>
          <a:p>
            <a:pPr marL="285750" indent="-285750">
              <a:buFont typeface="Arial" panose="020B0604020202020204" pitchFamily="34" charset="0"/>
              <a:buChar char="•"/>
            </a:pPr>
            <a:r>
              <a:rPr lang="en-US" dirty="0"/>
              <a:t>This method is one of the gradient Based Method.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It is a combination of Cauchy’s steepest descent method and Newton’s method.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Search direction is calculated in this method as follows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F</a:t>
            </a:r>
            <a:r>
              <a:rPr lang="en-IN" dirty="0"/>
              <a:t>or large value of </a:t>
            </a:r>
            <a:r>
              <a:rPr lang="el-GR" dirty="0"/>
              <a:t>λ</a:t>
            </a:r>
            <a:r>
              <a:rPr lang="en-US" dirty="0"/>
              <a:t>, this method is similar to Cauchy’s steepest descent method.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For smaller value of </a:t>
            </a:r>
            <a:r>
              <a:rPr lang="el-GR" dirty="0"/>
              <a:t>λ</a:t>
            </a:r>
            <a:r>
              <a:rPr lang="en-US" dirty="0"/>
              <a:t>, this method is similar to Newton’s method.</a:t>
            </a:r>
            <a:endParaRPr lang="en-IN" dirty="0"/>
          </a:p>
        </p:txBody>
      </p:sp>
      <p:pic>
        <p:nvPicPr>
          <p:cNvPr id="4" name="Picture 3">
            <a:extLst>
              <a:ext uri="{FF2B5EF4-FFF2-40B4-BE49-F238E27FC236}">
                <a16:creationId xmlns:a16="http://schemas.microsoft.com/office/drawing/2014/main" id="{D8554290-6C31-4F2D-A805-FDA92422FEC2}"/>
              </a:ext>
            </a:extLst>
          </p:cNvPr>
          <p:cNvPicPr>
            <a:picLocks noChangeAspect="1"/>
          </p:cNvPicPr>
          <p:nvPr/>
        </p:nvPicPr>
        <p:blipFill>
          <a:blip r:embed="rId2"/>
          <a:stretch>
            <a:fillRect/>
          </a:stretch>
        </p:blipFill>
        <p:spPr>
          <a:xfrm>
            <a:off x="1037858" y="3646121"/>
            <a:ext cx="4067175" cy="628650"/>
          </a:xfrm>
          <a:prstGeom prst="rect">
            <a:avLst/>
          </a:prstGeom>
        </p:spPr>
      </p:pic>
    </p:spTree>
    <p:extLst>
      <p:ext uri="{BB962C8B-B14F-4D97-AF65-F5344CB8AC3E}">
        <p14:creationId xmlns:p14="http://schemas.microsoft.com/office/powerpoint/2010/main" val="18449417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9C77FAB0-B626-4877-9EB1-8D32B5E9D0B6}"/>
              </a:ext>
            </a:extLst>
          </p:cNvPr>
          <p:cNvGraphicFramePr>
            <a:graphicFrameLocks noGrp="1"/>
          </p:cNvGraphicFramePr>
          <p:nvPr>
            <p:extLst>
              <p:ext uri="{D42A27DB-BD31-4B8C-83A1-F6EECF244321}">
                <p14:modId xmlns:p14="http://schemas.microsoft.com/office/powerpoint/2010/main" val="2113855092"/>
              </p:ext>
            </p:extLst>
          </p:nvPr>
        </p:nvGraphicFramePr>
        <p:xfrm>
          <a:off x="479394" y="1287261"/>
          <a:ext cx="10555548" cy="4793000"/>
        </p:xfrm>
        <a:graphic>
          <a:graphicData uri="http://schemas.openxmlformats.org/drawingml/2006/table">
            <a:tbl>
              <a:tblPr firstRow="1" bandRow="1">
                <a:tableStyleId>{93296810-A885-4BE3-A3E7-6D5BEEA58F35}</a:tableStyleId>
              </a:tblPr>
              <a:tblGrid>
                <a:gridCol w="2331761">
                  <a:extLst>
                    <a:ext uri="{9D8B030D-6E8A-4147-A177-3AD203B41FA5}">
                      <a16:colId xmlns:a16="http://schemas.microsoft.com/office/drawing/2014/main" val="3052543623"/>
                    </a:ext>
                  </a:extLst>
                </a:gridCol>
                <a:gridCol w="2331761">
                  <a:extLst>
                    <a:ext uri="{9D8B030D-6E8A-4147-A177-3AD203B41FA5}">
                      <a16:colId xmlns:a16="http://schemas.microsoft.com/office/drawing/2014/main" val="2056690047"/>
                    </a:ext>
                  </a:extLst>
                </a:gridCol>
                <a:gridCol w="2331761">
                  <a:extLst>
                    <a:ext uri="{9D8B030D-6E8A-4147-A177-3AD203B41FA5}">
                      <a16:colId xmlns:a16="http://schemas.microsoft.com/office/drawing/2014/main" val="919117190"/>
                    </a:ext>
                  </a:extLst>
                </a:gridCol>
                <a:gridCol w="1382519">
                  <a:extLst>
                    <a:ext uri="{9D8B030D-6E8A-4147-A177-3AD203B41FA5}">
                      <a16:colId xmlns:a16="http://schemas.microsoft.com/office/drawing/2014/main" val="300319645"/>
                    </a:ext>
                  </a:extLst>
                </a:gridCol>
                <a:gridCol w="2177746">
                  <a:extLst>
                    <a:ext uri="{9D8B030D-6E8A-4147-A177-3AD203B41FA5}">
                      <a16:colId xmlns:a16="http://schemas.microsoft.com/office/drawing/2014/main" val="1231210946"/>
                    </a:ext>
                  </a:extLst>
                </a:gridCol>
              </a:tblGrid>
              <a:tr h="517923">
                <a:tc>
                  <a:txBody>
                    <a:bodyPr/>
                    <a:lstStyle/>
                    <a:p>
                      <a:r>
                        <a:rPr lang="en-US" sz="1600" dirty="0"/>
                        <a:t>Initial Guess</a:t>
                      </a:r>
                    </a:p>
                    <a:p>
                      <a:r>
                        <a:rPr lang="en-US" sz="1600" dirty="0"/>
                        <a:t>(x1,x2)</a:t>
                      </a:r>
                      <a:endParaRPr lang="en-IN" sz="1600" dirty="0"/>
                    </a:p>
                  </a:txBody>
                  <a:tcPr/>
                </a:tc>
                <a:tc>
                  <a:txBody>
                    <a:bodyPr/>
                    <a:lstStyle/>
                    <a:p>
                      <a:r>
                        <a:rPr lang="en-US" sz="1600" dirty="0"/>
                        <a:t>Optimal Point</a:t>
                      </a:r>
                    </a:p>
                    <a:p>
                      <a:r>
                        <a:rPr lang="en-US" sz="1600" dirty="0"/>
                        <a:t>(x1*,x2*)</a:t>
                      </a:r>
                      <a:endParaRPr lang="en-IN" sz="1600" dirty="0"/>
                    </a:p>
                  </a:txBody>
                  <a:tcPr/>
                </a:tc>
                <a:tc>
                  <a:txBody>
                    <a:bodyPr/>
                    <a:lstStyle/>
                    <a:p>
                      <a:r>
                        <a:rPr lang="en-US" sz="1600" dirty="0"/>
                        <a:t>Optimal Value</a:t>
                      </a:r>
                    </a:p>
                    <a:p>
                      <a:r>
                        <a:rPr lang="en-US" sz="1600" dirty="0"/>
                        <a:t>f(x*)</a:t>
                      </a:r>
                      <a:endParaRPr lang="en-IN" sz="1600" dirty="0"/>
                    </a:p>
                  </a:txBody>
                  <a:tcPr/>
                </a:tc>
                <a:tc>
                  <a:txBody>
                    <a:bodyPr/>
                    <a:lstStyle/>
                    <a:p>
                      <a:r>
                        <a:rPr lang="en-US" sz="1600" dirty="0"/>
                        <a:t>Number of</a:t>
                      </a:r>
                    </a:p>
                    <a:p>
                      <a:r>
                        <a:rPr lang="en-US" sz="1600" dirty="0"/>
                        <a:t>Sequence</a:t>
                      </a:r>
                      <a:endParaRPr lang="en-IN" sz="1600" dirty="0"/>
                    </a:p>
                  </a:txBody>
                  <a:tcPr/>
                </a:tc>
                <a:tc>
                  <a:txBody>
                    <a:bodyPr/>
                    <a:lstStyle/>
                    <a:p>
                      <a:r>
                        <a:rPr lang="en-US" sz="1600" dirty="0"/>
                        <a:t>Function</a:t>
                      </a:r>
                    </a:p>
                    <a:p>
                      <a:r>
                        <a:rPr lang="en-US" sz="1600" dirty="0"/>
                        <a:t>evaluations</a:t>
                      </a:r>
                      <a:endParaRPr lang="en-IN" sz="1600" dirty="0"/>
                    </a:p>
                  </a:txBody>
                  <a:tcPr/>
                </a:tc>
                <a:extLst>
                  <a:ext uri="{0D108BD9-81ED-4DB2-BD59-A6C34878D82A}">
                    <a16:rowId xmlns:a16="http://schemas.microsoft.com/office/drawing/2014/main" val="3414931324"/>
                  </a:ext>
                </a:extLst>
              </a:tr>
              <a:tr h="421388">
                <a:tc>
                  <a:txBody>
                    <a:bodyPr/>
                    <a:lstStyle/>
                    <a:p>
                      <a:r>
                        <a:rPr lang="en-US" sz="1600" dirty="0"/>
                        <a:t>(15.364666, 0.653951)</a:t>
                      </a:r>
                      <a:endParaRPr lang="en-IN" sz="1600" dirty="0"/>
                    </a:p>
                  </a:txBody>
                  <a:tcPr/>
                </a:tc>
                <a:tc>
                  <a:txBody>
                    <a:bodyPr/>
                    <a:lstStyle/>
                    <a:p>
                      <a:r>
                        <a:rPr lang="en-US" sz="1600" dirty="0"/>
                        <a:t>(6.432810, -4.877961)</a:t>
                      </a:r>
                      <a:endParaRPr lang="en-IN" sz="1600" dirty="0"/>
                    </a:p>
                  </a:txBody>
                  <a:tcPr/>
                </a:tc>
                <a:tc>
                  <a:txBody>
                    <a:bodyPr/>
                    <a:lstStyle/>
                    <a:p>
                      <a:r>
                        <a:rPr lang="en-US" sz="1600" dirty="0"/>
                        <a:t>-14260.718809</a:t>
                      </a:r>
                      <a:endParaRPr lang="en-IN" sz="1600" dirty="0"/>
                    </a:p>
                  </a:txBody>
                  <a:tcPr/>
                </a:tc>
                <a:tc>
                  <a:txBody>
                    <a:bodyPr/>
                    <a:lstStyle/>
                    <a:p>
                      <a:r>
                        <a:rPr lang="en-US" sz="1600" dirty="0"/>
                        <a:t>6</a:t>
                      </a:r>
                      <a:endParaRPr lang="en-IN" sz="1600" dirty="0"/>
                    </a:p>
                  </a:txBody>
                  <a:tcPr/>
                </a:tc>
                <a:tc>
                  <a:txBody>
                    <a:bodyPr/>
                    <a:lstStyle/>
                    <a:p>
                      <a:r>
                        <a:rPr lang="en-US" sz="1600" dirty="0"/>
                        <a:t>2867</a:t>
                      </a:r>
                      <a:endParaRPr lang="en-IN" sz="1600" dirty="0"/>
                    </a:p>
                  </a:txBody>
                  <a:tcPr/>
                </a:tc>
                <a:extLst>
                  <a:ext uri="{0D108BD9-81ED-4DB2-BD59-A6C34878D82A}">
                    <a16:rowId xmlns:a16="http://schemas.microsoft.com/office/drawing/2014/main" val="1104001847"/>
                  </a:ext>
                </a:extLst>
              </a:tr>
              <a:tr h="421388">
                <a:tc>
                  <a:txBody>
                    <a:bodyPr/>
                    <a:lstStyle/>
                    <a:p>
                      <a:r>
                        <a:rPr lang="en-US" sz="1600" dirty="0"/>
                        <a:t>(15.369366, 1.838435)</a:t>
                      </a:r>
                      <a:endParaRPr lang="en-IN" sz="1600" dirty="0"/>
                    </a:p>
                  </a:txBody>
                  <a:tcPr/>
                </a:tc>
                <a:tc>
                  <a:txBody>
                    <a:bodyPr/>
                    <a:lstStyle/>
                    <a:p>
                      <a:r>
                        <a:rPr lang="en-US" sz="1600" dirty="0"/>
                        <a:t>(6.432810, -4.877961)</a:t>
                      </a:r>
                      <a:endParaRPr lang="en-IN" sz="1600" dirty="0"/>
                    </a:p>
                  </a:txBody>
                  <a:tcPr/>
                </a:tc>
                <a:tc>
                  <a:txBody>
                    <a:bodyPr/>
                    <a:lstStyle/>
                    <a:p>
                      <a:r>
                        <a:rPr lang="en-US" sz="1600" dirty="0"/>
                        <a:t>-14260.718809 </a:t>
                      </a:r>
                      <a:endParaRPr lang="en-IN" sz="1600" dirty="0"/>
                    </a:p>
                  </a:txBody>
                  <a:tcPr/>
                </a:tc>
                <a:tc>
                  <a:txBody>
                    <a:bodyPr/>
                    <a:lstStyle/>
                    <a:p>
                      <a:r>
                        <a:rPr lang="en-US" sz="1600" dirty="0"/>
                        <a:t>6</a:t>
                      </a:r>
                      <a:endParaRPr lang="en-IN" sz="1600" dirty="0"/>
                    </a:p>
                  </a:txBody>
                  <a:tcPr/>
                </a:tc>
                <a:tc>
                  <a:txBody>
                    <a:bodyPr/>
                    <a:lstStyle/>
                    <a:p>
                      <a:r>
                        <a:rPr lang="en-US" sz="1600" dirty="0"/>
                        <a:t>2807</a:t>
                      </a:r>
                      <a:endParaRPr lang="en-IN" sz="1600" dirty="0"/>
                    </a:p>
                  </a:txBody>
                  <a:tcPr/>
                </a:tc>
                <a:extLst>
                  <a:ext uri="{0D108BD9-81ED-4DB2-BD59-A6C34878D82A}">
                    <a16:rowId xmlns:a16="http://schemas.microsoft.com/office/drawing/2014/main" val="2170485830"/>
                  </a:ext>
                </a:extLst>
              </a:tr>
              <a:tr h="421388">
                <a:tc>
                  <a:txBody>
                    <a:bodyPr/>
                    <a:lstStyle/>
                    <a:p>
                      <a:r>
                        <a:rPr lang="en-US" sz="1600" dirty="0"/>
                        <a:t>(15.480453, 2.456130)</a:t>
                      </a:r>
                      <a:endParaRPr lang="en-IN" sz="1600" dirty="0"/>
                    </a:p>
                  </a:txBody>
                  <a:tcPr/>
                </a:tc>
                <a:tc>
                  <a:txBody>
                    <a:bodyPr/>
                    <a:lstStyle/>
                    <a:p>
                      <a:r>
                        <a:rPr lang="en-US" sz="1600" dirty="0"/>
                        <a:t>(6.432810, -4.877961)</a:t>
                      </a:r>
                      <a:endParaRPr lang="en-IN" sz="1600" dirty="0"/>
                    </a:p>
                  </a:txBody>
                  <a:tcPr/>
                </a:tc>
                <a:tc>
                  <a:txBody>
                    <a:bodyPr/>
                    <a:lstStyle/>
                    <a:p>
                      <a:r>
                        <a:rPr lang="en-US" sz="1600" dirty="0"/>
                        <a:t>-14260.718809</a:t>
                      </a:r>
                      <a:endParaRPr lang="en-IN" sz="1600" dirty="0"/>
                    </a:p>
                  </a:txBody>
                  <a:tcPr/>
                </a:tc>
                <a:tc>
                  <a:txBody>
                    <a:bodyPr/>
                    <a:lstStyle/>
                    <a:p>
                      <a:r>
                        <a:rPr lang="en-US" sz="1600" dirty="0"/>
                        <a:t>6</a:t>
                      </a:r>
                      <a:endParaRPr lang="en-IN" sz="1600" dirty="0"/>
                    </a:p>
                  </a:txBody>
                  <a:tcPr/>
                </a:tc>
                <a:tc>
                  <a:txBody>
                    <a:bodyPr/>
                    <a:lstStyle/>
                    <a:p>
                      <a:r>
                        <a:rPr lang="en-US" sz="1600" dirty="0"/>
                        <a:t>2727</a:t>
                      </a:r>
                      <a:endParaRPr lang="en-IN" sz="1600" dirty="0"/>
                    </a:p>
                  </a:txBody>
                  <a:tcPr/>
                </a:tc>
                <a:extLst>
                  <a:ext uri="{0D108BD9-81ED-4DB2-BD59-A6C34878D82A}">
                    <a16:rowId xmlns:a16="http://schemas.microsoft.com/office/drawing/2014/main" val="3710583633"/>
                  </a:ext>
                </a:extLst>
              </a:tr>
              <a:tr h="421388">
                <a:tc>
                  <a:txBody>
                    <a:bodyPr/>
                    <a:lstStyle/>
                    <a:p>
                      <a:r>
                        <a:rPr lang="en-US" sz="1600" dirty="0"/>
                        <a:t>(13.886135,3.227027)</a:t>
                      </a:r>
                      <a:endParaRPr lang="en-IN" sz="1600" dirty="0"/>
                    </a:p>
                  </a:txBody>
                  <a:tcPr/>
                </a:tc>
                <a:tc>
                  <a:txBody>
                    <a:bodyPr/>
                    <a:lstStyle/>
                    <a:p>
                      <a:r>
                        <a:rPr lang="en-US" sz="1600" dirty="0"/>
                        <a:t>(-4.824556, 2.897491)</a:t>
                      </a:r>
                      <a:endParaRPr lang="en-IN" sz="1600" dirty="0"/>
                    </a:p>
                  </a:txBody>
                  <a:tcPr/>
                </a:tc>
                <a:tc>
                  <a:txBody>
                    <a:bodyPr/>
                    <a:lstStyle/>
                    <a:p>
                      <a:r>
                        <a:rPr lang="en-US" sz="1600" dirty="0"/>
                        <a:t>38549.656399</a:t>
                      </a:r>
                      <a:endParaRPr lang="en-IN" sz="1600" dirty="0"/>
                    </a:p>
                  </a:txBody>
                  <a:tcPr/>
                </a:tc>
                <a:tc>
                  <a:txBody>
                    <a:bodyPr/>
                    <a:lstStyle/>
                    <a:p>
                      <a:r>
                        <a:rPr lang="en-US" sz="1600" dirty="0"/>
                        <a:t>6</a:t>
                      </a:r>
                      <a:endParaRPr lang="en-IN" sz="1600" dirty="0"/>
                    </a:p>
                  </a:txBody>
                  <a:tcPr/>
                </a:tc>
                <a:tc>
                  <a:txBody>
                    <a:bodyPr/>
                    <a:lstStyle/>
                    <a:p>
                      <a:r>
                        <a:rPr lang="en-US" sz="1600" dirty="0"/>
                        <a:t>1446</a:t>
                      </a:r>
                      <a:endParaRPr lang="en-IN" sz="1600" dirty="0"/>
                    </a:p>
                  </a:txBody>
                  <a:tcPr/>
                </a:tc>
                <a:extLst>
                  <a:ext uri="{0D108BD9-81ED-4DB2-BD59-A6C34878D82A}">
                    <a16:rowId xmlns:a16="http://schemas.microsoft.com/office/drawing/2014/main" val="2342564943"/>
                  </a:ext>
                </a:extLst>
              </a:tr>
              <a:tr h="421388">
                <a:tc>
                  <a:txBody>
                    <a:bodyPr/>
                    <a:lstStyle/>
                    <a:p>
                      <a:r>
                        <a:rPr lang="en-US" sz="1600" dirty="0"/>
                        <a:t>(15.475539, 1.271645)</a:t>
                      </a:r>
                      <a:endParaRPr lang="en-IN" sz="1600" dirty="0"/>
                    </a:p>
                  </a:txBody>
                  <a:tcPr/>
                </a:tc>
                <a:tc>
                  <a:txBody>
                    <a:bodyPr/>
                    <a:lstStyle/>
                    <a:p>
                      <a:r>
                        <a:rPr lang="en-US" sz="1600" dirty="0"/>
                        <a:t>(6.432810, -4.877961)</a:t>
                      </a:r>
                      <a:endParaRPr lang="en-IN" sz="1600" dirty="0"/>
                    </a:p>
                  </a:txBody>
                  <a:tcPr/>
                </a:tc>
                <a:tc>
                  <a:txBody>
                    <a:bodyPr/>
                    <a:lstStyle/>
                    <a:p>
                      <a:r>
                        <a:rPr lang="en-US" sz="1600" dirty="0"/>
                        <a:t>-14260.718809</a:t>
                      </a:r>
                      <a:endParaRPr lang="en-IN" sz="1600" dirty="0"/>
                    </a:p>
                  </a:txBody>
                  <a:tcPr/>
                </a:tc>
                <a:tc>
                  <a:txBody>
                    <a:bodyPr/>
                    <a:lstStyle/>
                    <a:p>
                      <a:r>
                        <a:rPr lang="en-US" sz="1600" dirty="0"/>
                        <a:t>6</a:t>
                      </a:r>
                      <a:endParaRPr lang="en-IN" sz="1600" dirty="0"/>
                    </a:p>
                  </a:txBody>
                  <a:tcPr/>
                </a:tc>
                <a:tc>
                  <a:txBody>
                    <a:bodyPr/>
                    <a:lstStyle/>
                    <a:p>
                      <a:r>
                        <a:rPr lang="en-US" sz="1600" dirty="0"/>
                        <a:t>1266</a:t>
                      </a:r>
                      <a:endParaRPr lang="en-IN" sz="1600" dirty="0"/>
                    </a:p>
                  </a:txBody>
                  <a:tcPr/>
                </a:tc>
                <a:extLst>
                  <a:ext uri="{0D108BD9-81ED-4DB2-BD59-A6C34878D82A}">
                    <a16:rowId xmlns:a16="http://schemas.microsoft.com/office/drawing/2014/main" val="3829587511"/>
                  </a:ext>
                </a:extLst>
              </a:tr>
              <a:tr h="421388">
                <a:tc>
                  <a:txBody>
                    <a:bodyPr/>
                    <a:lstStyle/>
                    <a:p>
                      <a:r>
                        <a:rPr lang="en-US" sz="1600" dirty="0"/>
                        <a:t>(15.469131, 1.463179)</a:t>
                      </a:r>
                      <a:endParaRPr lang="en-IN" sz="1600" dirty="0"/>
                    </a:p>
                  </a:txBody>
                  <a:tcPr/>
                </a:tc>
                <a:tc>
                  <a:txBody>
                    <a:bodyPr/>
                    <a:lstStyle/>
                    <a:p>
                      <a:r>
                        <a:rPr lang="en-US" sz="1600" dirty="0"/>
                        <a:t>(12.220095, 11.985096)</a:t>
                      </a:r>
                      <a:endParaRPr lang="en-IN" sz="1600" dirty="0"/>
                    </a:p>
                  </a:txBody>
                  <a:tcPr/>
                </a:tc>
                <a:tc>
                  <a:txBody>
                    <a:bodyPr/>
                    <a:lstStyle/>
                    <a:p>
                      <a:r>
                        <a:rPr lang="en-US" sz="1600" dirty="0"/>
                        <a:t>197.748714 </a:t>
                      </a:r>
                      <a:endParaRPr lang="en-IN" sz="1600" dirty="0"/>
                    </a:p>
                  </a:txBody>
                  <a:tcPr/>
                </a:tc>
                <a:tc>
                  <a:txBody>
                    <a:bodyPr/>
                    <a:lstStyle/>
                    <a:p>
                      <a:r>
                        <a:rPr lang="en-US" sz="1600" dirty="0"/>
                        <a:t>6</a:t>
                      </a:r>
                      <a:endParaRPr lang="en-IN" sz="1600" dirty="0"/>
                    </a:p>
                  </a:txBody>
                  <a:tcPr/>
                </a:tc>
                <a:tc>
                  <a:txBody>
                    <a:bodyPr/>
                    <a:lstStyle/>
                    <a:p>
                      <a:r>
                        <a:rPr lang="en-US" sz="1600" dirty="0"/>
                        <a:t>2467</a:t>
                      </a:r>
                      <a:endParaRPr lang="en-IN" sz="1600" dirty="0"/>
                    </a:p>
                  </a:txBody>
                  <a:tcPr/>
                </a:tc>
                <a:extLst>
                  <a:ext uri="{0D108BD9-81ED-4DB2-BD59-A6C34878D82A}">
                    <a16:rowId xmlns:a16="http://schemas.microsoft.com/office/drawing/2014/main" val="4101436221"/>
                  </a:ext>
                </a:extLst>
              </a:tr>
              <a:tr h="421388">
                <a:tc>
                  <a:txBody>
                    <a:bodyPr/>
                    <a:lstStyle/>
                    <a:p>
                      <a:r>
                        <a:rPr lang="en-US" sz="1600" dirty="0"/>
                        <a:t>(16.018159, 2.055361)</a:t>
                      </a:r>
                      <a:endParaRPr lang="en-IN" sz="1600" dirty="0"/>
                    </a:p>
                  </a:txBody>
                  <a:tcPr/>
                </a:tc>
                <a:tc>
                  <a:txBody>
                    <a:bodyPr/>
                    <a:lstStyle/>
                    <a:p>
                      <a:r>
                        <a:rPr lang="en-US" sz="1600" dirty="0"/>
                        <a:t>(6.432810, -4.877961)</a:t>
                      </a:r>
                      <a:endParaRPr lang="en-IN" sz="1600" dirty="0"/>
                    </a:p>
                  </a:txBody>
                  <a:tcPr/>
                </a:tc>
                <a:tc>
                  <a:txBody>
                    <a:bodyPr/>
                    <a:lstStyle/>
                    <a:p>
                      <a:r>
                        <a:rPr lang="en-US" sz="1600" dirty="0"/>
                        <a:t>-14260.718809</a:t>
                      </a:r>
                      <a:endParaRPr lang="en-IN" sz="1600" dirty="0"/>
                    </a:p>
                  </a:txBody>
                  <a:tcPr/>
                </a:tc>
                <a:tc>
                  <a:txBody>
                    <a:bodyPr/>
                    <a:lstStyle/>
                    <a:p>
                      <a:r>
                        <a:rPr lang="en-US" sz="1600" dirty="0"/>
                        <a:t>6</a:t>
                      </a:r>
                      <a:endParaRPr lang="en-IN" sz="1600" dirty="0"/>
                    </a:p>
                  </a:txBody>
                  <a:tcPr/>
                </a:tc>
                <a:tc>
                  <a:txBody>
                    <a:bodyPr/>
                    <a:lstStyle/>
                    <a:p>
                      <a:r>
                        <a:rPr lang="en-US" sz="1600" dirty="0"/>
                        <a:t>2767</a:t>
                      </a:r>
                      <a:endParaRPr lang="en-IN" sz="1600" dirty="0"/>
                    </a:p>
                  </a:txBody>
                  <a:tcPr/>
                </a:tc>
                <a:extLst>
                  <a:ext uri="{0D108BD9-81ED-4DB2-BD59-A6C34878D82A}">
                    <a16:rowId xmlns:a16="http://schemas.microsoft.com/office/drawing/2014/main" val="3849673687"/>
                  </a:ext>
                </a:extLst>
              </a:tr>
              <a:tr h="421388">
                <a:tc>
                  <a:txBody>
                    <a:bodyPr/>
                    <a:lstStyle/>
                    <a:p>
                      <a:r>
                        <a:rPr lang="en-US" sz="1600" dirty="0"/>
                        <a:t>(16.016236, 2.119205)</a:t>
                      </a:r>
                      <a:endParaRPr lang="en-IN" sz="1600" dirty="0"/>
                    </a:p>
                  </a:txBody>
                  <a:tcPr/>
                </a:tc>
                <a:tc>
                  <a:txBody>
                    <a:bodyPr/>
                    <a:lstStyle/>
                    <a:p>
                      <a:r>
                        <a:rPr lang="en-US" sz="1600" dirty="0"/>
                        <a:t>(-3.617141, 9.870346)</a:t>
                      </a:r>
                      <a:endParaRPr lang="en-IN" sz="1600" dirty="0"/>
                    </a:p>
                  </a:txBody>
                  <a:tcPr/>
                </a:tc>
                <a:tc>
                  <a:txBody>
                    <a:bodyPr/>
                    <a:lstStyle/>
                    <a:p>
                      <a:r>
                        <a:rPr lang="en-US" sz="1600" dirty="0"/>
                        <a:t>4333.073279 </a:t>
                      </a:r>
                      <a:endParaRPr lang="en-IN" sz="1600" dirty="0"/>
                    </a:p>
                  </a:txBody>
                  <a:tcPr/>
                </a:tc>
                <a:tc>
                  <a:txBody>
                    <a:bodyPr/>
                    <a:lstStyle/>
                    <a:p>
                      <a:r>
                        <a:rPr lang="en-US" sz="1600" dirty="0"/>
                        <a:t>6</a:t>
                      </a:r>
                      <a:endParaRPr lang="en-IN" sz="1600" dirty="0"/>
                    </a:p>
                  </a:txBody>
                  <a:tcPr/>
                </a:tc>
                <a:tc>
                  <a:txBody>
                    <a:bodyPr/>
                    <a:lstStyle/>
                    <a:p>
                      <a:r>
                        <a:rPr lang="en-US" sz="1600" dirty="0"/>
                        <a:t>2487</a:t>
                      </a:r>
                      <a:endParaRPr lang="en-IN" sz="1600" dirty="0"/>
                    </a:p>
                  </a:txBody>
                  <a:tcPr/>
                </a:tc>
                <a:extLst>
                  <a:ext uri="{0D108BD9-81ED-4DB2-BD59-A6C34878D82A}">
                    <a16:rowId xmlns:a16="http://schemas.microsoft.com/office/drawing/2014/main" val="49193376"/>
                  </a:ext>
                </a:extLst>
              </a:tr>
              <a:tr h="421388">
                <a:tc>
                  <a:txBody>
                    <a:bodyPr/>
                    <a:lstStyle/>
                    <a:p>
                      <a:r>
                        <a:rPr lang="en-US" sz="1600" dirty="0"/>
                        <a:t>(16.014100, 2.183050)</a:t>
                      </a:r>
                      <a:endParaRPr lang="en-IN" sz="1600" dirty="0"/>
                    </a:p>
                  </a:txBody>
                  <a:tcPr/>
                </a:tc>
                <a:tc>
                  <a:txBody>
                    <a:bodyPr/>
                    <a:lstStyle/>
                    <a:p>
                      <a:r>
                        <a:rPr lang="en-US" sz="1600" dirty="0"/>
                        <a:t>(6.432810, -4.877961)</a:t>
                      </a:r>
                      <a:endParaRPr lang="en-IN" sz="1600" dirty="0"/>
                    </a:p>
                  </a:txBody>
                  <a:tcPr/>
                </a:tc>
                <a:tc>
                  <a:txBody>
                    <a:bodyPr/>
                    <a:lstStyle/>
                    <a:p>
                      <a:r>
                        <a:rPr lang="en-US" sz="1600" dirty="0"/>
                        <a:t> -14260.718809</a:t>
                      </a:r>
                      <a:endParaRPr lang="en-IN" sz="1600" dirty="0"/>
                    </a:p>
                  </a:txBody>
                  <a:tcPr/>
                </a:tc>
                <a:tc>
                  <a:txBody>
                    <a:bodyPr/>
                    <a:lstStyle/>
                    <a:p>
                      <a:r>
                        <a:rPr lang="en-US" sz="1600" dirty="0"/>
                        <a:t>6</a:t>
                      </a:r>
                      <a:endParaRPr lang="en-IN" sz="1600" dirty="0"/>
                    </a:p>
                  </a:txBody>
                  <a:tcPr/>
                </a:tc>
                <a:tc>
                  <a:txBody>
                    <a:bodyPr/>
                    <a:lstStyle/>
                    <a:p>
                      <a:r>
                        <a:rPr lang="en-US" sz="1600" dirty="0"/>
                        <a:t>2867</a:t>
                      </a:r>
                      <a:endParaRPr lang="en-IN" sz="1600" dirty="0"/>
                    </a:p>
                  </a:txBody>
                  <a:tcPr/>
                </a:tc>
                <a:extLst>
                  <a:ext uri="{0D108BD9-81ED-4DB2-BD59-A6C34878D82A}">
                    <a16:rowId xmlns:a16="http://schemas.microsoft.com/office/drawing/2014/main" val="3176086491"/>
                  </a:ext>
                </a:extLst>
              </a:tr>
              <a:tr h="421388">
                <a:tc>
                  <a:txBody>
                    <a:bodyPr/>
                    <a:lstStyle/>
                    <a:p>
                      <a:r>
                        <a:rPr lang="en-US" sz="1600" dirty="0"/>
                        <a:t>(16.010681, 3.622791)</a:t>
                      </a:r>
                      <a:endParaRPr lang="en-IN" sz="1600" dirty="0"/>
                    </a:p>
                  </a:txBody>
                  <a:tcPr/>
                </a:tc>
                <a:tc>
                  <a:txBody>
                    <a:bodyPr/>
                    <a:lstStyle/>
                    <a:p>
                      <a:r>
                        <a:rPr lang="en-US" sz="1600" dirty="0"/>
                        <a:t>(9.631354, 13.865474)</a:t>
                      </a:r>
                      <a:endParaRPr lang="en-IN" sz="1600" dirty="0"/>
                    </a:p>
                  </a:txBody>
                  <a:tcPr/>
                </a:tc>
                <a:tc>
                  <a:txBody>
                    <a:bodyPr/>
                    <a:lstStyle/>
                    <a:p>
                      <a:r>
                        <a:rPr lang="en-US" sz="1600" dirty="0"/>
                        <a:t>5868.346518</a:t>
                      </a:r>
                      <a:endParaRPr lang="en-IN" sz="1600" dirty="0"/>
                    </a:p>
                  </a:txBody>
                  <a:tcPr/>
                </a:tc>
                <a:tc>
                  <a:txBody>
                    <a:bodyPr/>
                    <a:lstStyle/>
                    <a:p>
                      <a:r>
                        <a:rPr lang="en-US" sz="1600" dirty="0"/>
                        <a:t>6</a:t>
                      </a:r>
                      <a:endParaRPr lang="en-IN" sz="1600" dirty="0"/>
                    </a:p>
                  </a:txBody>
                  <a:tcPr/>
                </a:tc>
                <a:tc>
                  <a:txBody>
                    <a:bodyPr/>
                    <a:lstStyle/>
                    <a:p>
                      <a:r>
                        <a:rPr lang="en-US" sz="1600" dirty="0"/>
                        <a:t>1266</a:t>
                      </a:r>
                      <a:endParaRPr lang="en-IN" sz="1600" dirty="0"/>
                    </a:p>
                  </a:txBody>
                  <a:tcPr/>
                </a:tc>
                <a:extLst>
                  <a:ext uri="{0D108BD9-81ED-4DB2-BD59-A6C34878D82A}">
                    <a16:rowId xmlns:a16="http://schemas.microsoft.com/office/drawing/2014/main" val="3105645713"/>
                  </a:ext>
                </a:extLst>
              </a:tr>
            </a:tbl>
          </a:graphicData>
        </a:graphic>
      </p:graphicFrame>
      <p:sp>
        <p:nvSpPr>
          <p:cNvPr id="4" name="TextBox 3">
            <a:extLst>
              <a:ext uri="{FF2B5EF4-FFF2-40B4-BE49-F238E27FC236}">
                <a16:creationId xmlns:a16="http://schemas.microsoft.com/office/drawing/2014/main" id="{E9616149-0014-4455-954F-7423659BF8C1}"/>
              </a:ext>
            </a:extLst>
          </p:cNvPr>
          <p:cNvSpPr txBox="1"/>
          <p:nvPr/>
        </p:nvSpPr>
        <p:spPr>
          <a:xfrm>
            <a:off x="4447713" y="559293"/>
            <a:ext cx="3648722" cy="646331"/>
          </a:xfrm>
          <a:prstGeom prst="rect">
            <a:avLst/>
          </a:prstGeom>
          <a:noFill/>
        </p:spPr>
        <p:txBody>
          <a:bodyPr wrap="square" rtlCol="0">
            <a:spAutoFit/>
          </a:bodyPr>
          <a:lstStyle/>
          <a:p>
            <a:r>
              <a:rPr lang="en-US" sz="3600" b="1" dirty="0"/>
              <a:t>PROBLEM 1</a:t>
            </a:r>
            <a:endParaRPr lang="en-IN" sz="3600" b="1" dirty="0"/>
          </a:p>
        </p:txBody>
      </p:sp>
    </p:spTree>
    <p:extLst>
      <p:ext uri="{BB962C8B-B14F-4D97-AF65-F5344CB8AC3E}">
        <p14:creationId xmlns:p14="http://schemas.microsoft.com/office/powerpoint/2010/main" val="19230557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C4938985-AA4C-44E2-9460-6C3D1C346E5B}"/>
              </a:ext>
            </a:extLst>
          </p:cNvPr>
          <p:cNvGraphicFramePr>
            <a:graphicFrameLocks/>
          </p:cNvGraphicFramePr>
          <p:nvPr>
            <p:extLst>
              <p:ext uri="{D42A27DB-BD31-4B8C-83A1-F6EECF244321}">
                <p14:modId xmlns:p14="http://schemas.microsoft.com/office/powerpoint/2010/main" val="2811233595"/>
              </p:ext>
            </p:extLst>
          </p:nvPr>
        </p:nvGraphicFramePr>
        <p:xfrm>
          <a:off x="3200401" y="2713893"/>
          <a:ext cx="4740030" cy="324142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 name="Table 1">
            <a:extLst>
              <a:ext uri="{FF2B5EF4-FFF2-40B4-BE49-F238E27FC236}">
                <a16:creationId xmlns:a16="http://schemas.microsoft.com/office/drawing/2014/main" id="{81CB0266-CD97-4756-A2CB-30A8945DE54D}"/>
              </a:ext>
            </a:extLst>
          </p:cNvPr>
          <p:cNvGraphicFramePr>
            <a:graphicFrameLocks noGrp="1"/>
          </p:cNvGraphicFramePr>
          <p:nvPr>
            <p:extLst>
              <p:ext uri="{D42A27DB-BD31-4B8C-83A1-F6EECF244321}">
                <p14:modId xmlns:p14="http://schemas.microsoft.com/office/powerpoint/2010/main" val="2948777049"/>
              </p:ext>
            </p:extLst>
          </p:nvPr>
        </p:nvGraphicFramePr>
        <p:xfrm>
          <a:off x="1125416" y="790004"/>
          <a:ext cx="8596922" cy="1022384"/>
        </p:xfrm>
        <a:graphic>
          <a:graphicData uri="http://schemas.openxmlformats.org/drawingml/2006/table">
            <a:tbl>
              <a:tblPr firstRow="1" bandRow="1">
                <a:tableStyleId>{5C22544A-7EE6-4342-B048-85BDC9FD1C3A}</a:tableStyleId>
              </a:tblPr>
              <a:tblGrid>
                <a:gridCol w="1703753">
                  <a:extLst>
                    <a:ext uri="{9D8B030D-6E8A-4147-A177-3AD203B41FA5}">
                      <a16:colId xmlns:a16="http://schemas.microsoft.com/office/drawing/2014/main" val="2448480675"/>
                    </a:ext>
                  </a:extLst>
                </a:gridCol>
                <a:gridCol w="1649046">
                  <a:extLst>
                    <a:ext uri="{9D8B030D-6E8A-4147-A177-3AD203B41FA5}">
                      <a16:colId xmlns:a16="http://schemas.microsoft.com/office/drawing/2014/main" val="1955025383"/>
                    </a:ext>
                  </a:extLst>
                </a:gridCol>
                <a:gridCol w="1719385">
                  <a:extLst>
                    <a:ext uri="{9D8B030D-6E8A-4147-A177-3AD203B41FA5}">
                      <a16:colId xmlns:a16="http://schemas.microsoft.com/office/drawing/2014/main" val="3320378383"/>
                    </a:ext>
                  </a:extLst>
                </a:gridCol>
                <a:gridCol w="1695938">
                  <a:extLst>
                    <a:ext uri="{9D8B030D-6E8A-4147-A177-3AD203B41FA5}">
                      <a16:colId xmlns:a16="http://schemas.microsoft.com/office/drawing/2014/main" val="1367617914"/>
                    </a:ext>
                  </a:extLst>
                </a:gridCol>
                <a:gridCol w="1828800">
                  <a:extLst>
                    <a:ext uri="{9D8B030D-6E8A-4147-A177-3AD203B41FA5}">
                      <a16:colId xmlns:a16="http://schemas.microsoft.com/office/drawing/2014/main" val="4264378405"/>
                    </a:ext>
                  </a:extLst>
                </a:gridCol>
              </a:tblGrid>
              <a:tr h="382304">
                <a:tc>
                  <a:txBody>
                    <a:bodyPr/>
                    <a:lstStyle/>
                    <a:p>
                      <a:r>
                        <a:rPr lang="en-US" sz="1200" dirty="0"/>
                        <a:t>Best</a:t>
                      </a:r>
                      <a:endParaRPr lang="en-IN" sz="1200" dirty="0"/>
                    </a:p>
                  </a:txBody>
                  <a:tcPr/>
                </a:tc>
                <a:tc>
                  <a:txBody>
                    <a:bodyPr/>
                    <a:lstStyle/>
                    <a:p>
                      <a:r>
                        <a:rPr lang="en-US" sz="1200" dirty="0"/>
                        <a:t>Worst</a:t>
                      </a:r>
                      <a:endParaRPr lang="en-IN" sz="1200" dirty="0"/>
                    </a:p>
                  </a:txBody>
                  <a:tcPr/>
                </a:tc>
                <a:tc>
                  <a:txBody>
                    <a:bodyPr/>
                    <a:lstStyle/>
                    <a:p>
                      <a:r>
                        <a:rPr lang="en-US" sz="1200" dirty="0"/>
                        <a:t>Mean</a:t>
                      </a:r>
                      <a:endParaRPr lang="en-IN" sz="1200" dirty="0"/>
                    </a:p>
                  </a:txBody>
                  <a:tcPr/>
                </a:tc>
                <a:tc>
                  <a:txBody>
                    <a:bodyPr/>
                    <a:lstStyle/>
                    <a:p>
                      <a:r>
                        <a:rPr lang="en-US" sz="1200" dirty="0"/>
                        <a:t>Median</a:t>
                      </a:r>
                      <a:endParaRPr lang="en-IN" sz="1200" dirty="0"/>
                    </a:p>
                  </a:txBody>
                  <a:tcPr/>
                </a:tc>
                <a:tc>
                  <a:txBody>
                    <a:bodyPr/>
                    <a:lstStyle/>
                    <a:p>
                      <a:r>
                        <a:rPr lang="en-US" sz="1200" dirty="0"/>
                        <a:t>Standard Deviation</a:t>
                      </a:r>
                      <a:endParaRPr lang="en-IN" sz="1200" dirty="0"/>
                    </a:p>
                  </a:txBody>
                  <a:tcPr/>
                </a:tc>
                <a:extLst>
                  <a:ext uri="{0D108BD9-81ED-4DB2-BD59-A6C34878D82A}">
                    <a16:rowId xmlns:a16="http://schemas.microsoft.com/office/drawing/2014/main" val="2509477614"/>
                  </a:ext>
                </a:extLst>
              </a:tr>
              <a:tr h="21531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-14260.718809</a:t>
                      </a:r>
                      <a:endParaRPr lang="en-IN" sz="1800" dirty="0"/>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38549.656399</a:t>
                      </a:r>
                      <a:endParaRPr lang="en-IN" sz="1800" dirty="0"/>
                    </a:p>
                    <a:p>
                      <a:endParaRPr lang="en-IN" dirty="0"/>
                    </a:p>
                  </a:txBody>
                  <a:tcPr/>
                </a:tc>
                <a:tc>
                  <a:txBody>
                    <a:bodyPr/>
                    <a:lstStyle/>
                    <a:p>
                      <a:r>
                        <a:rPr lang="en-US" dirty="0"/>
                        <a:t>-3661.548794</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-14260.718809</a:t>
                      </a:r>
                      <a:endParaRPr lang="en-IN" sz="1800" dirty="0"/>
                    </a:p>
                    <a:p>
                      <a:endParaRPr lang="en-IN" dirty="0"/>
                    </a:p>
                  </a:txBody>
                  <a:tcPr/>
                </a:tc>
                <a:tc>
                  <a:txBody>
                    <a:bodyPr/>
                    <a:lstStyle/>
                    <a:p>
                      <a:r>
                        <a:rPr lang="en-US" dirty="0"/>
                        <a:t>17079.77146</a:t>
                      </a:r>
                      <a:endParaRPr lang="en-IN" dirty="0"/>
                    </a:p>
                  </a:txBody>
                  <a:tcPr/>
                </a:tc>
                <a:extLst>
                  <a:ext uri="{0D108BD9-81ED-4DB2-BD59-A6C34878D82A}">
                    <a16:rowId xmlns:a16="http://schemas.microsoft.com/office/drawing/2014/main" val="325290273"/>
                  </a:ext>
                </a:extLst>
              </a:tr>
            </a:tbl>
          </a:graphicData>
        </a:graphic>
      </p:graphicFrame>
    </p:spTree>
    <p:extLst>
      <p:ext uri="{BB962C8B-B14F-4D97-AF65-F5344CB8AC3E}">
        <p14:creationId xmlns:p14="http://schemas.microsoft.com/office/powerpoint/2010/main" val="25659576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hart 6">
            <a:extLst>
              <a:ext uri="{FF2B5EF4-FFF2-40B4-BE49-F238E27FC236}">
                <a16:creationId xmlns:a16="http://schemas.microsoft.com/office/drawing/2014/main" id="{DD1EA404-6460-4EBD-9226-C2A892BF66A4}"/>
              </a:ext>
            </a:extLst>
          </p:cNvPr>
          <p:cNvGraphicFramePr>
            <a:graphicFrameLocks/>
          </p:cNvGraphicFramePr>
          <p:nvPr>
            <p:extLst>
              <p:ext uri="{D42A27DB-BD31-4B8C-83A1-F6EECF244321}">
                <p14:modId xmlns:p14="http://schemas.microsoft.com/office/powerpoint/2010/main" val="260066047"/>
              </p:ext>
            </p:extLst>
          </p:nvPr>
        </p:nvGraphicFramePr>
        <p:xfrm>
          <a:off x="312420" y="419100"/>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a:extLst>
              <a:ext uri="{FF2B5EF4-FFF2-40B4-BE49-F238E27FC236}">
                <a16:creationId xmlns:a16="http://schemas.microsoft.com/office/drawing/2014/main" id="{FEA44F0E-53E4-4E16-BDC5-C6159292F559}"/>
              </a:ext>
            </a:extLst>
          </p:cNvPr>
          <p:cNvGraphicFramePr>
            <a:graphicFrameLocks/>
          </p:cNvGraphicFramePr>
          <p:nvPr>
            <p:extLst>
              <p:ext uri="{D42A27DB-BD31-4B8C-83A1-F6EECF244321}">
                <p14:modId xmlns:p14="http://schemas.microsoft.com/office/powerpoint/2010/main" val="221524079"/>
              </p:ext>
            </p:extLst>
          </p:nvPr>
        </p:nvGraphicFramePr>
        <p:xfrm>
          <a:off x="5471160" y="419100"/>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54A65D0F-F554-4128-AED4-F20C5F4E3AD1}"/>
              </a:ext>
            </a:extLst>
          </p:cNvPr>
          <p:cNvGraphicFramePr>
            <a:graphicFrameLocks/>
          </p:cNvGraphicFramePr>
          <p:nvPr>
            <p:extLst>
              <p:ext uri="{D42A27DB-BD31-4B8C-83A1-F6EECF244321}">
                <p14:modId xmlns:p14="http://schemas.microsoft.com/office/powerpoint/2010/main" val="3676191716"/>
              </p:ext>
            </p:extLst>
          </p:nvPr>
        </p:nvGraphicFramePr>
        <p:xfrm>
          <a:off x="312420" y="2987040"/>
          <a:ext cx="4572000"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Chart 9">
            <a:extLst>
              <a:ext uri="{FF2B5EF4-FFF2-40B4-BE49-F238E27FC236}">
                <a16:creationId xmlns:a16="http://schemas.microsoft.com/office/drawing/2014/main" id="{19FC698E-8371-4A25-9139-3C5C5490E8AB}"/>
              </a:ext>
            </a:extLst>
          </p:cNvPr>
          <p:cNvGraphicFramePr>
            <a:graphicFrameLocks/>
          </p:cNvGraphicFramePr>
          <p:nvPr>
            <p:extLst>
              <p:ext uri="{D42A27DB-BD31-4B8C-83A1-F6EECF244321}">
                <p14:modId xmlns:p14="http://schemas.microsoft.com/office/powerpoint/2010/main" val="693111778"/>
              </p:ext>
            </p:extLst>
          </p:nvPr>
        </p:nvGraphicFramePr>
        <p:xfrm>
          <a:off x="5623560" y="3055620"/>
          <a:ext cx="4572000" cy="27432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41849278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id="{0215176D-C15A-4E22-A7BE-FA6FC276AFEC}"/>
              </a:ext>
            </a:extLst>
          </p:cNvPr>
          <p:cNvGraphicFramePr>
            <a:graphicFrameLocks/>
          </p:cNvGraphicFramePr>
          <p:nvPr>
            <p:extLst>
              <p:ext uri="{D42A27DB-BD31-4B8C-83A1-F6EECF244321}">
                <p14:modId xmlns:p14="http://schemas.microsoft.com/office/powerpoint/2010/main" val="1431116433"/>
              </p:ext>
            </p:extLst>
          </p:nvPr>
        </p:nvGraphicFramePr>
        <p:xfrm>
          <a:off x="251460" y="480060"/>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hart 5">
            <a:extLst>
              <a:ext uri="{FF2B5EF4-FFF2-40B4-BE49-F238E27FC236}">
                <a16:creationId xmlns:a16="http://schemas.microsoft.com/office/drawing/2014/main" id="{882509EB-9282-4E08-85B3-E28BAD7EDA5E}"/>
              </a:ext>
            </a:extLst>
          </p:cNvPr>
          <p:cNvGraphicFramePr>
            <a:graphicFrameLocks/>
          </p:cNvGraphicFramePr>
          <p:nvPr>
            <p:extLst>
              <p:ext uri="{D42A27DB-BD31-4B8C-83A1-F6EECF244321}">
                <p14:modId xmlns:p14="http://schemas.microsoft.com/office/powerpoint/2010/main" val="3788372814"/>
              </p:ext>
            </p:extLst>
          </p:nvPr>
        </p:nvGraphicFramePr>
        <p:xfrm>
          <a:off x="4431714" y="3332675"/>
          <a:ext cx="4572000"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319571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AF30D-71CA-4597-95E2-20FC97CD92E4}"/>
              </a:ext>
            </a:extLst>
          </p:cNvPr>
          <p:cNvSpPr>
            <a:spLocks noGrp="1"/>
          </p:cNvSpPr>
          <p:nvPr>
            <p:ph type="title"/>
          </p:nvPr>
        </p:nvSpPr>
        <p:spPr/>
        <p:txBody>
          <a:bodyPr/>
          <a:lstStyle/>
          <a:p>
            <a:r>
              <a:rPr lang="en-US" dirty="0"/>
              <a:t>Conclusion and Observation of Problem 1</a:t>
            </a:r>
            <a:endParaRPr lang="en-IN" dirty="0"/>
          </a:p>
        </p:txBody>
      </p:sp>
      <p:sp>
        <p:nvSpPr>
          <p:cNvPr id="4" name="TextBox 3">
            <a:extLst>
              <a:ext uri="{FF2B5EF4-FFF2-40B4-BE49-F238E27FC236}">
                <a16:creationId xmlns:a16="http://schemas.microsoft.com/office/drawing/2014/main" id="{057787E0-211B-4E96-A140-BA8510CBAE36}"/>
              </a:ext>
            </a:extLst>
          </p:cNvPr>
          <p:cNvSpPr txBox="1"/>
          <p:nvPr/>
        </p:nvSpPr>
        <p:spPr>
          <a:xfrm>
            <a:off x="429846" y="2063261"/>
            <a:ext cx="11011877" cy="2585323"/>
          </a:xfrm>
          <a:prstGeom prst="rect">
            <a:avLst/>
          </a:prstGeom>
          <a:noFill/>
        </p:spPr>
        <p:txBody>
          <a:bodyPr wrap="square" rtlCol="0">
            <a:spAutoFit/>
          </a:bodyPr>
          <a:lstStyle/>
          <a:p>
            <a:pPr marL="285750" indent="-285750">
              <a:buFont typeface="Arial" panose="020B0604020202020204" pitchFamily="34" charset="0"/>
              <a:buChar char="•"/>
            </a:pPr>
            <a:r>
              <a:rPr lang="en-US" dirty="0"/>
              <a:t>After executing the problem 1 code for 10 different initial guesses. A same optimal function value -14260.718809</a:t>
            </a:r>
            <a:endParaRPr lang="en-IN" dirty="0"/>
          </a:p>
          <a:p>
            <a:pPr marL="285750" indent="-285750">
              <a:buFont typeface="Arial" panose="020B0604020202020204" pitchFamily="34" charset="0"/>
              <a:buChar char="•"/>
            </a:pPr>
            <a:r>
              <a:rPr lang="en-US" dirty="0"/>
              <a:t>is obtained at the same optimal point x* (6.432810,-4.877961)</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This results of problem are not coming as expected.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err="1"/>
              <a:t>Hassian</a:t>
            </a:r>
            <a:r>
              <a:rPr lang="en-US" dirty="0"/>
              <a:t> matrix is coming out to be negative definite, which only guarantees local maximum or saddle point, not a minima.</a:t>
            </a:r>
            <a:endParaRPr lang="en-IN" dirty="0"/>
          </a:p>
          <a:p>
            <a:endParaRPr lang="en-IN" dirty="0"/>
          </a:p>
        </p:txBody>
      </p:sp>
    </p:spTree>
    <p:extLst>
      <p:ext uri="{BB962C8B-B14F-4D97-AF65-F5344CB8AC3E}">
        <p14:creationId xmlns:p14="http://schemas.microsoft.com/office/powerpoint/2010/main" val="21187552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BC34639-0E7C-4C2D-AA89-ADA66D58E953}"/>
              </a:ext>
            </a:extLst>
          </p:cNvPr>
          <p:cNvGraphicFramePr>
            <a:graphicFrameLocks noGrp="1"/>
          </p:cNvGraphicFramePr>
          <p:nvPr>
            <p:extLst>
              <p:ext uri="{D42A27DB-BD31-4B8C-83A1-F6EECF244321}">
                <p14:modId xmlns:p14="http://schemas.microsoft.com/office/powerpoint/2010/main" val="3686198759"/>
              </p:ext>
            </p:extLst>
          </p:nvPr>
        </p:nvGraphicFramePr>
        <p:xfrm>
          <a:off x="319596" y="1136914"/>
          <a:ext cx="11381175" cy="4988676"/>
        </p:xfrm>
        <a:graphic>
          <a:graphicData uri="http://schemas.openxmlformats.org/drawingml/2006/table">
            <a:tbl>
              <a:tblPr firstRow="1" bandRow="1">
                <a:tableStyleId>{93296810-A885-4BE3-A3E7-6D5BEEA58F35}</a:tableStyleId>
              </a:tblPr>
              <a:tblGrid>
                <a:gridCol w="2276235">
                  <a:extLst>
                    <a:ext uri="{9D8B030D-6E8A-4147-A177-3AD203B41FA5}">
                      <a16:colId xmlns:a16="http://schemas.microsoft.com/office/drawing/2014/main" val="453502675"/>
                    </a:ext>
                  </a:extLst>
                </a:gridCol>
                <a:gridCol w="2276235">
                  <a:extLst>
                    <a:ext uri="{9D8B030D-6E8A-4147-A177-3AD203B41FA5}">
                      <a16:colId xmlns:a16="http://schemas.microsoft.com/office/drawing/2014/main" val="1704837048"/>
                    </a:ext>
                  </a:extLst>
                </a:gridCol>
                <a:gridCol w="2276235">
                  <a:extLst>
                    <a:ext uri="{9D8B030D-6E8A-4147-A177-3AD203B41FA5}">
                      <a16:colId xmlns:a16="http://schemas.microsoft.com/office/drawing/2014/main" val="2234353904"/>
                    </a:ext>
                  </a:extLst>
                </a:gridCol>
                <a:gridCol w="2276235">
                  <a:extLst>
                    <a:ext uri="{9D8B030D-6E8A-4147-A177-3AD203B41FA5}">
                      <a16:colId xmlns:a16="http://schemas.microsoft.com/office/drawing/2014/main" val="1805833910"/>
                    </a:ext>
                  </a:extLst>
                </a:gridCol>
                <a:gridCol w="2276235">
                  <a:extLst>
                    <a:ext uri="{9D8B030D-6E8A-4147-A177-3AD203B41FA5}">
                      <a16:colId xmlns:a16="http://schemas.microsoft.com/office/drawing/2014/main" val="2789914627"/>
                    </a:ext>
                  </a:extLst>
                </a:gridCol>
              </a:tblGrid>
              <a:tr h="734316">
                <a:tc>
                  <a:txBody>
                    <a:bodyPr/>
                    <a:lstStyle/>
                    <a:p>
                      <a:r>
                        <a:rPr lang="en-US" sz="1600" dirty="0"/>
                        <a:t>Initial Point</a:t>
                      </a:r>
                    </a:p>
                    <a:p>
                      <a:r>
                        <a:rPr lang="en-US" sz="1600" dirty="0"/>
                        <a:t>(x1,x2)</a:t>
                      </a:r>
                      <a:endParaRPr lang="en-IN" sz="1600" dirty="0"/>
                    </a:p>
                  </a:txBody>
                  <a:tcPr/>
                </a:tc>
                <a:tc>
                  <a:txBody>
                    <a:bodyPr/>
                    <a:lstStyle/>
                    <a:p>
                      <a:r>
                        <a:rPr lang="en-US" sz="1600" dirty="0"/>
                        <a:t>Optimal Point</a:t>
                      </a:r>
                    </a:p>
                    <a:p>
                      <a:r>
                        <a:rPr lang="en-US" sz="1600" dirty="0"/>
                        <a:t>(x1*,x2*)</a:t>
                      </a:r>
                      <a:endParaRPr lang="en-IN" sz="1600" dirty="0"/>
                    </a:p>
                  </a:txBody>
                  <a:tcPr/>
                </a:tc>
                <a:tc>
                  <a:txBody>
                    <a:bodyPr/>
                    <a:lstStyle/>
                    <a:p>
                      <a:r>
                        <a:rPr lang="en-US" sz="1600" dirty="0"/>
                        <a:t>Optimal Value</a:t>
                      </a:r>
                    </a:p>
                    <a:p>
                      <a:r>
                        <a:rPr lang="en-US" sz="1600" dirty="0"/>
                        <a:t>F(x*)</a:t>
                      </a:r>
                      <a:endParaRPr lang="en-IN" sz="1600" dirty="0"/>
                    </a:p>
                  </a:txBody>
                  <a:tcPr/>
                </a:tc>
                <a:tc>
                  <a:txBody>
                    <a:bodyPr/>
                    <a:lstStyle/>
                    <a:p>
                      <a:r>
                        <a:rPr lang="en-US" sz="1600" dirty="0"/>
                        <a:t>Sequence</a:t>
                      </a:r>
                      <a:endParaRPr lang="en-IN" sz="1600" dirty="0"/>
                    </a:p>
                  </a:txBody>
                  <a:tcPr/>
                </a:tc>
                <a:tc>
                  <a:txBody>
                    <a:bodyPr/>
                    <a:lstStyle/>
                    <a:p>
                      <a:r>
                        <a:rPr lang="en-US" sz="1600" dirty="0"/>
                        <a:t>Function evaluations</a:t>
                      </a:r>
                      <a:endParaRPr lang="en-IN" sz="1600" dirty="0"/>
                    </a:p>
                  </a:txBody>
                  <a:tcPr/>
                </a:tc>
                <a:extLst>
                  <a:ext uri="{0D108BD9-81ED-4DB2-BD59-A6C34878D82A}">
                    <a16:rowId xmlns:a16="http://schemas.microsoft.com/office/drawing/2014/main" val="345767154"/>
                  </a:ext>
                </a:extLst>
              </a:tr>
              <a:tr h="425436">
                <a:tc>
                  <a:txBody>
                    <a:bodyPr/>
                    <a:lstStyle/>
                    <a:p>
                      <a:r>
                        <a:rPr lang="en-US" sz="1600" dirty="0"/>
                        <a:t>(0.108036, 9.451888)</a:t>
                      </a:r>
                      <a:endParaRPr lang="en-IN" sz="1600" dirty="0"/>
                    </a:p>
                  </a:txBody>
                  <a:tcPr/>
                </a:tc>
                <a:tc>
                  <a:txBody>
                    <a:bodyPr/>
                    <a:lstStyle/>
                    <a:p>
                      <a:r>
                        <a:rPr lang="en-US" sz="1600" dirty="0"/>
                        <a:t>(1.226961, 4.243160)</a:t>
                      </a:r>
                      <a:endParaRPr lang="en-IN" sz="1600" dirty="0"/>
                    </a:p>
                  </a:txBody>
                  <a:tcPr/>
                </a:tc>
                <a:tc>
                  <a:txBody>
                    <a:bodyPr/>
                    <a:lstStyle/>
                    <a:p>
                      <a:r>
                        <a:rPr lang="en-US" sz="1600" dirty="0"/>
                        <a:t>-0.095977</a:t>
                      </a:r>
                      <a:endParaRPr lang="en-IN" sz="1600" dirty="0"/>
                    </a:p>
                  </a:txBody>
                  <a:tcPr/>
                </a:tc>
                <a:tc>
                  <a:txBody>
                    <a:bodyPr/>
                    <a:lstStyle/>
                    <a:p>
                      <a:r>
                        <a:rPr lang="en-US" sz="1600" dirty="0"/>
                        <a:t>5</a:t>
                      </a:r>
                      <a:endParaRPr lang="en-IN" sz="1600" dirty="0"/>
                    </a:p>
                  </a:txBody>
                  <a:tcPr/>
                </a:tc>
                <a:tc>
                  <a:txBody>
                    <a:bodyPr/>
                    <a:lstStyle/>
                    <a:p>
                      <a:r>
                        <a:rPr lang="en-US" sz="1600" dirty="0"/>
                        <a:t>1286</a:t>
                      </a:r>
                      <a:endParaRPr lang="en-IN" sz="1600" dirty="0"/>
                    </a:p>
                  </a:txBody>
                  <a:tcPr/>
                </a:tc>
                <a:extLst>
                  <a:ext uri="{0D108BD9-81ED-4DB2-BD59-A6C34878D82A}">
                    <a16:rowId xmlns:a16="http://schemas.microsoft.com/office/drawing/2014/main" val="2232598309"/>
                  </a:ext>
                </a:extLst>
              </a:tr>
              <a:tr h="425436">
                <a:tc>
                  <a:txBody>
                    <a:bodyPr/>
                    <a:lstStyle/>
                    <a:p>
                      <a:r>
                        <a:rPr lang="en-US" sz="1600" dirty="0"/>
                        <a:t>(8.800012, 2.610553)</a:t>
                      </a:r>
                      <a:endParaRPr lang="en-IN" sz="1600" dirty="0"/>
                    </a:p>
                  </a:txBody>
                  <a:tcPr/>
                </a:tc>
                <a:tc>
                  <a:txBody>
                    <a:bodyPr/>
                    <a:lstStyle/>
                    <a:p>
                      <a:r>
                        <a:rPr lang="en-US" sz="1600" dirty="0"/>
                        <a:t>(1.998661, 4.998383)</a:t>
                      </a:r>
                      <a:endParaRPr lang="en-IN" sz="1600" dirty="0"/>
                    </a:p>
                  </a:txBody>
                  <a:tcPr/>
                </a:tc>
                <a:tc>
                  <a:txBody>
                    <a:bodyPr/>
                    <a:lstStyle/>
                    <a:p>
                      <a:r>
                        <a:rPr lang="en-US" sz="1600" dirty="0"/>
                        <a:t>0.000000</a:t>
                      </a:r>
                      <a:endParaRPr lang="en-IN" sz="1600" dirty="0"/>
                    </a:p>
                  </a:txBody>
                  <a:tcPr/>
                </a:tc>
                <a:tc>
                  <a:txBody>
                    <a:bodyPr/>
                    <a:lstStyle/>
                    <a:p>
                      <a:r>
                        <a:rPr lang="en-US" sz="1600" dirty="0"/>
                        <a:t>4</a:t>
                      </a:r>
                      <a:endParaRPr lang="en-IN" sz="1600" dirty="0"/>
                    </a:p>
                  </a:txBody>
                  <a:tcPr/>
                </a:tc>
                <a:tc>
                  <a:txBody>
                    <a:bodyPr/>
                    <a:lstStyle/>
                    <a:p>
                      <a:r>
                        <a:rPr lang="en-US" sz="1600" dirty="0"/>
                        <a:t>1548</a:t>
                      </a:r>
                      <a:endParaRPr lang="en-IN" sz="1600" dirty="0"/>
                    </a:p>
                  </a:txBody>
                  <a:tcPr/>
                </a:tc>
                <a:extLst>
                  <a:ext uri="{0D108BD9-81ED-4DB2-BD59-A6C34878D82A}">
                    <a16:rowId xmlns:a16="http://schemas.microsoft.com/office/drawing/2014/main" val="4245364572"/>
                  </a:ext>
                </a:extLst>
              </a:tr>
              <a:tr h="425436">
                <a:tc>
                  <a:txBody>
                    <a:bodyPr/>
                    <a:lstStyle/>
                    <a:p>
                      <a:r>
                        <a:rPr lang="en-US" sz="1600" dirty="0"/>
                        <a:t>(8.806726, 5.571764)</a:t>
                      </a:r>
                      <a:endParaRPr lang="en-IN" sz="1600" dirty="0"/>
                    </a:p>
                  </a:txBody>
                  <a:tcPr/>
                </a:tc>
                <a:tc>
                  <a:txBody>
                    <a:bodyPr/>
                    <a:lstStyle/>
                    <a:p>
                      <a:r>
                        <a:rPr lang="en-US" sz="1600" dirty="0"/>
                        <a:t>(1.999073, 4.998842)</a:t>
                      </a:r>
                      <a:endParaRPr lang="en-IN" sz="1600" dirty="0"/>
                    </a:p>
                  </a:txBody>
                  <a:tcPr/>
                </a:tc>
                <a:tc>
                  <a:txBody>
                    <a:bodyPr/>
                    <a:lstStyle/>
                    <a:p>
                      <a:r>
                        <a:rPr lang="en-US" sz="1600" dirty="0"/>
                        <a:t>0.000000</a:t>
                      </a:r>
                      <a:endParaRPr lang="en-IN" sz="1600" dirty="0"/>
                    </a:p>
                  </a:txBody>
                  <a:tcPr/>
                </a:tc>
                <a:tc>
                  <a:txBody>
                    <a:bodyPr/>
                    <a:lstStyle/>
                    <a:p>
                      <a:r>
                        <a:rPr lang="en-US" sz="1600" dirty="0"/>
                        <a:t>4</a:t>
                      </a:r>
                      <a:endParaRPr lang="en-IN" sz="1600" dirty="0"/>
                    </a:p>
                  </a:txBody>
                  <a:tcPr/>
                </a:tc>
                <a:tc>
                  <a:txBody>
                    <a:bodyPr/>
                    <a:lstStyle/>
                    <a:p>
                      <a:r>
                        <a:rPr lang="en-US" sz="1600" dirty="0"/>
                        <a:t>1508</a:t>
                      </a:r>
                      <a:endParaRPr lang="en-IN" sz="1600" dirty="0"/>
                    </a:p>
                  </a:txBody>
                  <a:tcPr/>
                </a:tc>
                <a:extLst>
                  <a:ext uri="{0D108BD9-81ED-4DB2-BD59-A6C34878D82A}">
                    <a16:rowId xmlns:a16="http://schemas.microsoft.com/office/drawing/2014/main" val="891925244"/>
                  </a:ext>
                </a:extLst>
              </a:tr>
              <a:tr h="425436">
                <a:tc>
                  <a:txBody>
                    <a:bodyPr/>
                    <a:lstStyle/>
                    <a:p>
                      <a:r>
                        <a:rPr lang="en-US" sz="1600" dirty="0"/>
                        <a:t>(8.819849, 8.213752)</a:t>
                      </a:r>
                      <a:endParaRPr lang="en-IN" sz="1600" dirty="0"/>
                    </a:p>
                  </a:txBody>
                  <a:tcPr/>
                </a:tc>
                <a:tc>
                  <a:txBody>
                    <a:bodyPr/>
                    <a:lstStyle/>
                    <a:p>
                      <a:r>
                        <a:rPr lang="en-US" sz="1600" dirty="0"/>
                        <a:t>(1.988981, 4.450179)</a:t>
                      </a:r>
                      <a:endParaRPr lang="en-IN" sz="1600" dirty="0"/>
                    </a:p>
                  </a:txBody>
                  <a:tcPr/>
                </a:tc>
                <a:tc>
                  <a:txBody>
                    <a:bodyPr/>
                    <a:lstStyle/>
                    <a:p>
                      <a:r>
                        <a:rPr lang="en-US" sz="1600" dirty="0"/>
                        <a:t>0.000252</a:t>
                      </a:r>
                      <a:endParaRPr lang="en-IN" sz="1600" dirty="0"/>
                    </a:p>
                  </a:txBody>
                  <a:tcPr/>
                </a:tc>
                <a:tc>
                  <a:txBody>
                    <a:bodyPr/>
                    <a:lstStyle/>
                    <a:p>
                      <a:r>
                        <a:rPr lang="en-US" sz="1600" dirty="0"/>
                        <a:t>3</a:t>
                      </a:r>
                      <a:endParaRPr lang="en-IN" sz="1600" dirty="0"/>
                    </a:p>
                  </a:txBody>
                  <a:tcPr/>
                </a:tc>
                <a:tc>
                  <a:txBody>
                    <a:bodyPr/>
                    <a:lstStyle/>
                    <a:p>
                      <a:r>
                        <a:rPr lang="en-US" sz="1600" dirty="0"/>
                        <a:t>674</a:t>
                      </a:r>
                      <a:endParaRPr lang="en-IN" sz="1600" dirty="0"/>
                    </a:p>
                  </a:txBody>
                  <a:tcPr/>
                </a:tc>
                <a:extLst>
                  <a:ext uri="{0D108BD9-81ED-4DB2-BD59-A6C34878D82A}">
                    <a16:rowId xmlns:a16="http://schemas.microsoft.com/office/drawing/2014/main" val="3364002581"/>
                  </a:ext>
                </a:extLst>
              </a:tr>
              <a:tr h="425436">
                <a:tc>
                  <a:txBody>
                    <a:bodyPr/>
                    <a:lstStyle/>
                    <a:p>
                      <a:r>
                        <a:rPr lang="en-US" sz="1600" dirty="0"/>
                        <a:t>(8.823817, 1.333964)</a:t>
                      </a:r>
                      <a:endParaRPr lang="en-IN" sz="1600" dirty="0"/>
                    </a:p>
                  </a:txBody>
                  <a:tcPr/>
                </a:tc>
                <a:tc>
                  <a:txBody>
                    <a:bodyPr/>
                    <a:lstStyle/>
                    <a:p>
                      <a:r>
                        <a:rPr lang="en-US" sz="1600" dirty="0"/>
                        <a:t>(1.522156, 3.487490)</a:t>
                      </a:r>
                      <a:endParaRPr lang="en-IN" sz="1600" dirty="0"/>
                    </a:p>
                  </a:txBody>
                  <a:tcPr/>
                </a:tc>
                <a:tc>
                  <a:txBody>
                    <a:bodyPr/>
                    <a:lstStyle/>
                    <a:p>
                      <a:r>
                        <a:rPr lang="en-US" sz="1600" dirty="0"/>
                        <a:t>0.000011</a:t>
                      </a:r>
                      <a:endParaRPr lang="en-IN" sz="1600" dirty="0"/>
                    </a:p>
                  </a:txBody>
                  <a:tcPr/>
                </a:tc>
                <a:tc>
                  <a:txBody>
                    <a:bodyPr/>
                    <a:lstStyle/>
                    <a:p>
                      <a:r>
                        <a:rPr lang="en-US" sz="1600" dirty="0"/>
                        <a:t>3</a:t>
                      </a:r>
                      <a:endParaRPr lang="en-IN" sz="1600" dirty="0"/>
                    </a:p>
                  </a:txBody>
                  <a:tcPr/>
                </a:tc>
                <a:tc>
                  <a:txBody>
                    <a:bodyPr/>
                    <a:lstStyle/>
                    <a:p>
                      <a:r>
                        <a:rPr lang="en-US" sz="1600" dirty="0"/>
                        <a:t>1310</a:t>
                      </a:r>
                      <a:endParaRPr lang="en-IN" sz="1600" dirty="0"/>
                    </a:p>
                  </a:txBody>
                  <a:tcPr/>
                </a:tc>
                <a:extLst>
                  <a:ext uri="{0D108BD9-81ED-4DB2-BD59-A6C34878D82A}">
                    <a16:rowId xmlns:a16="http://schemas.microsoft.com/office/drawing/2014/main" val="1633927747"/>
                  </a:ext>
                </a:extLst>
              </a:tr>
              <a:tr h="425436">
                <a:tc>
                  <a:txBody>
                    <a:bodyPr/>
                    <a:lstStyle/>
                    <a:p>
                      <a:r>
                        <a:rPr lang="en-US" sz="1600" dirty="0"/>
                        <a:t>(8.826868, 1.174657)</a:t>
                      </a:r>
                      <a:endParaRPr lang="en-IN" sz="1600" dirty="0"/>
                    </a:p>
                  </a:txBody>
                  <a:tcPr/>
                </a:tc>
                <a:tc>
                  <a:txBody>
                    <a:bodyPr/>
                    <a:lstStyle/>
                    <a:p>
                      <a:r>
                        <a:rPr lang="en-US" sz="1600" dirty="0"/>
                        <a:t>(1.999122, 4.999099)</a:t>
                      </a:r>
                      <a:endParaRPr lang="en-IN" sz="1600" dirty="0"/>
                    </a:p>
                  </a:txBody>
                  <a:tcPr/>
                </a:tc>
                <a:tc>
                  <a:txBody>
                    <a:bodyPr/>
                    <a:lstStyle/>
                    <a:p>
                      <a:r>
                        <a:rPr lang="en-US" sz="1600" dirty="0"/>
                        <a:t>0.000000</a:t>
                      </a:r>
                      <a:endParaRPr lang="en-IN" sz="1600" dirty="0"/>
                    </a:p>
                  </a:txBody>
                  <a:tcPr/>
                </a:tc>
                <a:tc>
                  <a:txBody>
                    <a:bodyPr/>
                    <a:lstStyle/>
                    <a:p>
                      <a:r>
                        <a:rPr lang="en-US" sz="1600" dirty="0"/>
                        <a:t>4</a:t>
                      </a:r>
                      <a:endParaRPr lang="en-IN" sz="1600" dirty="0"/>
                    </a:p>
                  </a:txBody>
                  <a:tcPr/>
                </a:tc>
                <a:tc>
                  <a:txBody>
                    <a:bodyPr/>
                    <a:lstStyle/>
                    <a:p>
                      <a:r>
                        <a:rPr lang="en-US" sz="1600" dirty="0"/>
                        <a:t>1468</a:t>
                      </a:r>
                      <a:endParaRPr lang="en-IN" sz="1600" dirty="0"/>
                    </a:p>
                  </a:txBody>
                  <a:tcPr/>
                </a:tc>
                <a:extLst>
                  <a:ext uri="{0D108BD9-81ED-4DB2-BD59-A6C34878D82A}">
                    <a16:rowId xmlns:a16="http://schemas.microsoft.com/office/drawing/2014/main" val="1006629511"/>
                  </a:ext>
                </a:extLst>
              </a:tr>
              <a:tr h="425436">
                <a:tc>
                  <a:txBody>
                    <a:bodyPr/>
                    <a:lstStyle/>
                    <a:p>
                      <a:r>
                        <a:rPr lang="en-US" sz="1600" dirty="0"/>
                        <a:t>(8.836634, 3.976257)</a:t>
                      </a:r>
                      <a:endParaRPr lang="en-IN" sz="1600" dirty="0"/>
                    </a:p>
                  </a:txBody>
                  <a:tcPr/>
                </a:tc>
                <a:tc>
                  <a:txBody>
                    <a:bodyPr/>
                    <a:lstStyle/>
                    <a:p>
                      <a:r>
                        <a:rPr lang="en-US" sz="1600" dirty="0"/>
                        <a:t>(1.999125, 4.999102)</a:t>
                      </a:r>
                      <a:endParaRPr lang="en-IN" sz="1600" dirty="0"/>
                    </a:p>
                  </a:txBody>
                  <a:tcPr/>
                </a:tc>
                <a:tc>
                  <a:txBody>
                    <a:bodyPr/>
                    <a:lstStyle/>
                    <a:p>
                      <a:r>
                        <a:rPr lang="en-US" sz="1600" dirty="0"/>
                        <a:t>0.000000</a:t>
                      </a:r>
                      <a:endParaRPr lang="en-IN" sz="1600" dirty="0"/>
                    </a:p>
                  </a:txBody>
                  <a:tcPr/>
                </a:tc>
                <a:tc>
                  <a:txBody>
                    <a:bodyPr/>
                    <a:lstStyle/>
                    <a:p>
                      <a:r>
                        <a:rPr lang="en-US" sz="1600" dirty="0"/>
                        <a:t>5</a:t>
                      </a:r>
                      <a:endParaRPr lang="en-IN" sz="1600" dirty="0"/>
                    </a:p>
                  </a:txBody>
                  <a:tcPr/>
                </a:tc>
                <a:tc>
                  <a:txBody>
                    <a:bodyPr/>
                    <a:lstStyle/>
                    <a:p>
                      <a:r>
                        <a:rPr lang="en-US" sz="1600" dirty="0"/>
                        <a:t>1308</a:t>
                      </a:r>
                      <a:endParaRPr lang="en-IN" sz="1600" dirty="0"/>
                    </a:p>
                  </a:txBody>
                  <a:tcPr/>
                </a:tc>
                <a:extLst>
                  <a:ext uri="{0D108BD9-81ED-4DB2-BD59-A6C34878D82A}">
                    <a16:rowId xmlns:a16="http://schemas.microsoft.com/office/drawing/2014/main" val="1523379796"/>
                  </a:ext>
                </a:extLst>
              </a:tr>
              <a:tr h="425436">
                <a:tc>
                  <a:txBody>
                    <a:bodyPr/>
                    <a:lstStyle/>
                    <a:p>
                      <a:r>
                        <a:rPr lang="en-US" sz="1600" dirty="0"/>
                        <a:t>(8.842738, 3.657033)</a:t>
                      </a:r>
                      <a:endParaRPr lang="en-IN" sz="1600" dirty="0"/>
                    </a:p>
                  </a:txBody>
                  <a:tcPr/>
                </a:tc>
                <a:tc>
                  <a:txBody>
                    <a:bodyPr/>
                    <a:lstStyle/>
                    <a:p>
                      <a:r>
                        <a:rPr lang="en-US" sz="1600" dirty="0"/>
                        <a:t>(1.508583, 3.545577)</a:t>
                      </a:r>
                      <a:endParaRPr lang="en-IN" sz="1600" dirty="0"/>
                    </a:p>
                  </a:txBody>
                  <a:tcPr/>
                </a:tc>
                <a:tc>
                  <a:txBody>
                    <a:bodyPr/>
                    <a:lstStyle/>
                    <a:p>
                      <a:r>
                        <a:rPr lang="en-US" sz="1600" dirty="0"/>
                        <a:t>-0.000003</a:t>
                      </a:r>
                      <a:endParaRPr lang="en-IN" sz="1600" dirty="0"/>
                    </a:p>
                  </a:txBody>
                  <a:tcPr/>
                </a:tc>
                <a:tc>
                  <a:txBody>
                    <a:bodyPr/>
                    <a:lstStyle/>
                    <a:p>
                      <a:r>
                        <a:rPr lang="en-US" sz="1600" dirty="0"/>
                        <a:t>5</a:t>
                      </a:r>
                      <a:endParaRPr lang="en-IN" sz="1600" dirty="0"/>
                    </a:p>
                  </a:txBody>
                  <a:tcPr/>
                </a:tc>
                <a:tc>
                  <a:txBody>
                    <a:bodyPr/>
                    <a:lstStyle/>
                    <a:p>
                      <a:r>
                        <a:rPr lang="en-US" sz="1600" dirty="0"/>
                        <a:t>1568</a:t>
                      </a:r>
                      <a:endParaRPr lang="en-IN" sz="1600" dirty="0"/>
                    </a:p>
                  </a:txBody>
                  <a:tcPr/>
                </a:tc>
                <a:extLst>
                  <a:ext uri="{0D108BD9-81ED-4DB2-BD59-A6C34878D82A}">
                    <a16:rowId xmlns:a16="http://schemas.microsoft.com/office/drawing/2014/main" val="90937827"/>
                  </a:ext>
                </a:extLst>
              </a:tr>
              <a:tr h="425436">
                <a:tc>
                  <a:txBody>
                    <a:bodyPr/>
                    <a:lstStyle/>
                    <a:p>
                      <a:r>
                        <a:rPr lang="en-US" sz="1600" dirty="0"/>
                        <a:t>(8.849757, 6.618244)</a:t>
                      </a:r>
                      <a:endParaRPr lang="en-IN" sz="1600" dirty="0"/>
                    </a:p>
                  </a:txBody>
                  <a:tcPr/>
                </a:tc>
                <a:tc>
                  <a:txBody>
                    <a:bodyPr/>
                    <a:lstStyle/>
                    <a:p>
                      <a:r>
                        <a:rPr lang="en-US" sz="1600" dirty="0"/>
                        <a:t>(1.999073, 4.998841)</a:t>
                      </a:r>
                      <a:endParaRPr lang="en-IN" sz="1600" dirty="0"/>
                    </a:p>
                  </a:txBody>
                  <a:tcPr/>
                </a:tc>
                <a:tc>
                  <a:txBody>
                    <a:bodyPr/>
                    <a:lstStyle/>
                    <a:p>
                      <a:r>
                        <a:rPr lang="en-US" sz="1600" dirty="0"/>
                        <a:t>0.000000 </a:t>
                      </a:r>
                      <a:endParaRPr lang="en-IN" sz="1600" dirty="0"/>
                    </a:p>
                  </a:txBody>
                  <a:tcPr/>
                </a:tc>
                <a:tc>
                  <a:txBody>
                    <a:bodyPr/>
                    <a:lstStyle/>
                    <a:p>
                      <a:r>
                        <a:rPr lang="en-US" sz="1600" dirty="0"/>
                        <a:t>5</a:t>
                      </a:r>
                      <a:endParaRPr lang="en-IN" sz="1600" dirty="0"/>
                    </a:p>
                  </a:txBody>
                  <a:tcPr/>
                </a:tc>
                <a:tc>
                  <a:txBody>
                    <a:bodyPr/>
                    <a:lstStyle/>
                    <a:p>
                      <a:r>
                        <a:rPr lang="en-US" sz="1600" dirty="0"/>
                        <a:t>1428</a:t>
                      </a:r>
                      <a:endParaRPr lang="en-IN" sz="1600" dirty="0"/>
                    </a:p>
                  </a:txBody>
                  <a:tcPr/>
                </a:tc>
                <a:extLst>
                  <a:ext uri="{0D108BD9-81ED-4DB2-BD59-A6C34878D82A}">
                    <a16:rowId xmlns:a16="http://schemas.microsoft.com/office/drawing/2014/main" val="1197245335"/>
                  </a:ext>
                </a:extLst>
              </a:tr>
              <a:tr h="425436">
                <a:tc>
                  <a:txBody>
                    <a:bodyPr/>
                    <a:lstStyle/>
                    <a:p>
                      <a:r>
                        <a:rPr lang="en-US" sz="1600" dirty="0"/>
                        <a:t>(8.853725, 9.739067)</a:t>
                      </a:r>
                      <a:endParaRPr lang="en-IN" sz="1600" dirty="0"/>
                    </a:p>
                  </a:txBody>
                  <a:tcPr/>
                </a:tc>
                <a:tc>
                  <a:txBody>
                    <a:bodyPr/>
                    <a:lstStyle/>
                    <a:p>
                      <a:r>
                        <a:rPr lang="en-US" sz="1600" dirty="0"/>
                        <a:t>(1.490697, 4.678107</a:t>
                      </a:r>
                      <a:r>
                        <a:rPr lang="en-IN" sz="1600" dirty="0"/>
                        <a:t>)</a:t>
                      </a:r>
                      <a:endParaRPr lang="en-US" sz="1600" dirty="0"/>
                    </a:p>
                  </a:txBody>
                  <a:tcPr/>
                </a:tc>
                <a:tc>
                  <a:txBody>
                    <a:bodyPr/>
                    <a:lstStyle/>
                    <a:p>
                      <a:r>
                        <a:rPr lang="en-US" sz="1600" dirty="0"/>
                        <a:t> 0.000007 </a:t>
                      </a:r>
                      <a:endParaRPr lang="en-IN" sz="1600" dirty="0"/>
                    </a:p>
                  </a:txBody>
                  <a:tcPr/>
                </a:tc>
                <a:tc>
                  <a:txBody>
                    <a:bodyPr/>
                    <a:lstStyle/>
                    <a:p>
                      <a:r>
                        <a:rPr lang="en-US" sz="1600" dirty="0"/>
                        <a:t>5</a:t>
                      </a:r>
                      <a:endParaRPr lang="en-IN" sz="1600" dirty="0"/>
                    </a:p>
                  </a:txBody>
                  <a:tcPr/>
                </a:tc>
                <a:tc>
                  <a:txBody>
                    <a:bodyPr/>
                    <a:lstStyle/>
                    <a:p>
                      <a:r>
                        <a:rPr lang="en-US" sz="1600" dirty="0"/>
                        <a:t>1508</a:t>
                      </a:r>
                      <a:endParaRPr lang="en-IN" sz="1600" dirty="0"/>
                    </a:p>
                  </a:txBody>
                  <a:tcPr/>
                </a:tc>
                <a:extLst>
                  <a:ext uri="{0D108BD9-81ED-4DB2-BD59-A6C34878D82A}">
                    <a16:rowId xmlns:a16="http://schemas.microsoft.com/office/drawing/2014/main" val="533914814"/>
                  </a:ext>
                </a:extLst>
              </a:tr>
            </a:tbl>
          </a:graphicData>
        </a:graphic>
      </p:graphicFrame>
      <p:sp>
        <p:nvSpPr>
          <p:cNvPr id="3" name="TextBox 2">
            <a:extLst>
              <a:ext uri="{FF2B5EF4-FFF2-40B4-BE49-F238E27FC236}">
                <a16:creationId xmlns:a16="http://schemas.microsoft.com/office/drawing/2014/main" id="{6B885CB7-68EB-4450-8F76-3DD382D8E208}"/>
              </a:ext>
            </a:extLst>
          </p:cNvPr>
          <p:cNvSpPr txBox="1"/>
          <p:nvPr/>
        </p:nvSpPr>
        <p:spPr>
          <a:xfrm>
            <a:off x="4660778" y="409244"/>
            <a:ext cx="2417970" cy="646331"/>
          </a:xfrm>
          <a:prstGeom prst="rect">
            <a:avLst/>
          </a:prstGeom>
          <a:noFill/>
        </p:spPr>
        <p:txBody>
          <a:bodyPr wrap="none" rtlCol="0">
            <a:spAutoFit/>
          </a:bodyPr>
          <a:lstStyle/>
          <a:p>
            <a:r>
              <a:rPr lang="en-US" sz="3600" b="1" dirty="0"/>
              <a:t>PROBLEM 2</a:t>
            </a:r>
            <a:endParaRPr lang="en-IN" sz="3600" b="1" dirty="0"/>
          </a:p>
        </p:txBody>
      </p:sp>
    </p:spTree>
    <p:extLst>
      <p:ext uri="{BB962C8B-B14F-4D97-AF65-F5344CB8AC3E}">
        <p14:creationId xmlns:p14="http://schemas.microsoft.com/office/powerpoint/2010/main" val="18667745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id="{F876CAE6-5307-4AE8-84BB-F89CE59217F0}"/>
              </a:ext>
            </a:extLst>
          </p:cNvPr>
          <p:cNvGraphicFramePr>
            <a:graphicFrameLocks/>
          </p:cNvGraphicFramePr>
          <p:nvPr>
            <p:extLst>
              <p:ext uri="{D42A27DB-BD31-4B8C-83A1-F6EECF244321}">
                <p14:modId xmlns:p14="http://schemas.microsoft.com/office/powerpoint/2010/main" val="954746306"/>
              </p:ext>
            </p:extLst>
          </p:nvPr>
        </p:nvGraphicFramePr>
        <p:xfrm>
          <a:off x="1121508" y="2512531"/>
          <a:ext cx="5474678" cy="299731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Table 3">
            <a:extLst>
              <a:ext uri="{FF2B5EF4-FFF2-40B4-BE49-F238E27FC236}">
                <a16:creationId xmlns:a16="http://schemas.microsoft.com/office/drawing/2014/main" id="{EA0E941D-E9C6-478D-8429-C7F8E84A4224}"/>
              </a:ext>
            </a:extLst>
          </p:cNvPr>
          <p:cNvGraphicFramePr>
            <a:graphicFrameLocks noGrp="1"/>
          </p:cNvGraphicFramePr>
          <p:nvPr>
            <p:extLst>
              <p:ext uri="{D42A27DB-BD31-4B8C-83A1-F6EECF244321}">
                <p14:modId xmlns:p14="http://schemas.microsoft.com/office/powerpoint/2010/main" val="74138019"/>
              </p:ext>
            </p:extLst>
          </p:nvPr>
        </p:nvGraphicFramePr>
        <p:xfrm>
          <a:off x="1539632" y="797818"/>
          <a:ext cx="6963508" cy="741680"/>
        </p:xfrm>
        <a:graphic>
          <a:graphicData uri="http://schemas.openxmlformats.org/drawingml/2006/table">
            <a:tbl>
              <a:tblPr firstRow="1" bandRow="1">
                <a:tableStyleId>{5C22544A-7EE6-4342-B048-85BDC9FD1C3A}</a:tableStyleId>
              </a:tblPr>
              <a:tblGrid>
                <a:gridCol w="1281722">
                  <a:extLst>
                    <a:ext uri="{9D8B030D-6E8A-4147-A177-3AD203B41FA5}">
                      <a16:colId xmlns:a16="http://schemas.microsoft.com/office/drawing/2014/main" val="2448480675"/>
                    </a:ext>
                  </a:extLst>
                </a:gridCol>
                <a:gridCol w="1258277">
                  <a:extLst>
                    <a:ext uri="{9D8B030D-6E8A-4147-A177-3AD203B41FA5}">
                      <a16:colId xmlns:a16="http://schemas.microsoft.com/office/drawing/2014/main" val="1955025383"/>
                    </a:ext>
                  </a:extLst>
                </a:gridCol>
                <a:gridCol w="1430215">
                  <a:extLst>
                    <a:ext uri="{9D8B030D-6E8A-4147-A177-3AD203B41FA5}">
                      <a16:colId xmlns:a16="http://schemas.microsoft.com/office/drawing/2014/main" val="3320378383"/>
                    </a:ext>
                  </a:extLst>
                </a:gridCol>
                <a:gridCol w="1297354">
                  <a:extLst>
                    <a:ext uri="{9D8B030D-6E8A-4147-A177-3AD203B41FA5}">
                      <a16:colId xmlns:a16="http://schemas.microsoft.com/office/drawing/2014/main" val="1367617914"/>
                    </a:ext>
                  </a:extLst>
                </a:gridCol>
                <a:gridCol w="1695940">
                  <a:extLst>
                    <a:ext uri="{9D8B030D-6E8A-4147-A177-3AD203B41FA5}">
                      <a16:colId xmlns:a16="http://schemas.microsoft.com/office/drawing/2014/main" val="4264378405"/>
                    </a:ext>
                  </a:extLst>
                </a:gridCol>
              </a:tblGrid>
              <a:tr h="370840">
                <a:tc>
                  <a:txBody>
                    <a:bodyPr/>
                    <a:lstStyle/>
                    <a:p>
                      <a:r>
                        <a:rPr lang="en-US" sz="1200" dirty="0"/>
                        <a:t>Best</a:t>
                      </a:r>
                      <a:endParaRPr lang="en-IN" sz="1200" dirty="0"/>
                    </a:p>
                  </a:txBody>
                  <a:tcPr/>
                </a:tc>
                <a:tc>
                  <a:txBody>
                    <a:bodyPr/>
                    <a:lstStyle/>
                    <a:p>
                      <a:r>
                        <a:rPr lang="en-US" sz="1200" dirty="0"/>
                        <a:t>Worst</a:t>
                      </a:r>
                      <a:endParaRPr lang="en-IN" sz="1200" dirty="0"/>
                    </a:p>
                  </a:txBody>
                  <a:tcPr/>
                </a:tc>
                <a:tc>
                  <a:txBody>
                    <a:bodyPr/>
                    <a:lstStyle/>
                    <a:p>
                      <a:r>
                        <a:rPr lang="en-US" sz="1200" dirty="0"/>
                        <a:t>Mean</a:t>
                      </a:r>
                      <a:endParaRPr lang="en-IN" sz="1200" dirty="0"/>
                    </a:p>
                  </a:txBody>
                  <a:tcPr/>
                </a:tc>
                <a:tc>
                  <a:txBody>
                    <a:bodyPr/>
                    <a:lstStyle/>
                    <a:p>
                      <a:r>
                        <a:rPr lang="en-US" sz="1200" dirty="0"/>
                        <a:t>Median</a:t>
                      </a:r>
                      <a:endParaRPr lang="en-IN" sz="1200" dirty="0"/>
                    </a:p>
                  </a:txBody>
                  <a:tcPr/>
                </a:tc>
                <a:tc>
                  <a:txBody>
                    <a:bodyPr/>
                    <a:lstStyle/>
                    <a:p>
                      <a:r>
                        <a:rPr lang="en-US" sz="1200" dirty="0"/>
                        <a:t>Standard Deviation</a:t>
                      </a:r>
                      <a:endParaRPr lang="en-IN" sz="1200" dirty="0"/>
                    </a:p>
                  </a:txBody>
                  <a:tcPr/>
                </a:tc>
                <a:extLst>
                  <a:ext uri="{0D108BD9-81ED-4DB2-BD59-A6C34878D82A}">
                    <a16:rowId xmlns:a16="http://schemas.microsoft.com/office/drawing/2014/main" val="2509477614"/>
                  </a:ext>
                </a:extLst>
              </a:tr>
              <a:tr h="370840">
                <a:tc>
                  <a:txBody>
                    <a:bodyPr/>
                    <a:lstStyle/>
                    <a:p>
                      <a:r>
                        <a:rPr lang="en-US" dirty="0"/>
                        <a:t>-0.095977</a:t>
                      </a:r>
                      <a:endParaRPr lang="en-IN" dirty="0"/>
                    </a:p>
                  </a:txBody>
                  <a:tcPr/>
                </a:tc>
                <a:tc>
                  <a:txBody>
                    <a:bodyPr/>
                    <a:lstStyle/>
                    <a:p>
                      <a:r>
                        <a:rPr lang="en-US" dirty="0"/>
                        <a:t>0.000252</a:t>
                      </a:r>
                      <a:endParaRPr lang="en-IN" dirty="0"/>
                    </a:p>
                  </a:txBody>
                  <a:tcPr/>
                </a:tc>
                <a:tc>
                  <a:txBody>
                    <a:bodyPr/>
                    <a:lstStyle/>
                    <a:p>
                      <a:r>
                        <a:rPr lang="en-US" dirty="0"/>
                        <a:t>-0.000957</a:t>
                      </a:r>
                      <a:endParaRPr lang="en-IN" dirty="0"/>
                    </a:p>
                  </a:txBody>
                  <a:tcPr/>
                </a:tc>
                <a:tc>
                  <a:txBody>
                    <a:bodyPr/>
                    <a:lstStyle/>
                    <a:p>
                      <a:r>
                        <a:rPr lang="en-US" dirty="0"/>
                        <a:t>0.000000</a:t>
                      </a:r>
                      <a:endParaRPr lang="en-IN" dirty="0"/>
                    </a:p>
                  </a:txBody>
                  <a:tcPr/>
                </a:tc>
                <a:tc>
                  <a:txBody>
                    <a:bodyPr/>
                    <a:lstStyle/>
                    <a:p>
                      <a:r>
                        <a:rPr lang="en-US" dirty="0"/>
                        <a:t>0.03036</a:t>
                      </a:r>
                      <a:endParaRPr lang="en-IN" dirty="0"/>
                    </a:p>
                  </a:txBody>
                  <a:tcPr/>
                </a:tc>
                <a:extLst>
                  <a:ext uri="{0D108BD9-81ED-4DB2-BD59-A6C34878D82A}">
                    <a16:rowId xmlns:a16="http://schemas.microsoft.com/office/drawing/2014/main" val="325290273"/>
                  </a:ext>
                </a:extLst>
              </a:tr>
            </a:tbl>
          </a:graphicData>
        </a:graphic>
      </p:graphicFrame>
    </p:spTree>
    <p:extLst>
      <p:ext uri="{BB962C8B-B14F-4D97-AF65-F5344CB8AC3E}">
        <p14:creationId xmlns:p14="http://schemas.microsoft.com/office/powerpoint/2010/main" val="23633107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AADCD6FD-9E01-494C-B5FB-9F9DD317B77F}"/>
              </a:ext>
            </a:extLst>
          </p:cNvPr>
          <p:cNvGraphicFramePr>
            <a:graphicFrameLocks/>
          </p:cNvGraphicFramePr>
          <p:nvPr>
            <p:extLst>
              <p:ext uri="{D42A27DB-BD31-4B8C-83A1-F6EECF244321}">
                <p14:modId xmlns:p14="http://schemas.microsoft.com/office/powerpoint/2010/main" val="135003649"/>
              </p:ext>
            </p:extLst>
          </p:nvPr>
        </p:nvGraphicFramePr>
        <p:xfrm>
          <a:off x="519723" y="314569"/>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Chart 2">
            <a:extLst>
              <a:ext uri="{FF2B5EF4-FFF2-40B4-BE49-F238E27FC236}">
                <a16:creationId xmlns:a16="http://schemas.microsoft.com/office/drawing/2014/main" id="{374FB160-7CB2-4220-9379-0CB00890BA8D}"/>
              </a:ext>
            </a:extLst>
          </p:cNvPr>
          <p:cNvGraphicFramePr>
            <a:graphicFrameLocks/>
          </p:cNvGraphicFramePr>
          <p:nvPr>
            <p:extLst>
              <p:ext uri="{D42A27DB-BD31-4B8C-83A1-F6EECF244321}">
                <p14:modId xmlns:p14="http://schemas.microsoft.com/office/powerpoint/2010/main" val="541683807"/>
              </p:ext>
            </p:extLst>
          </p:nvPr>
        </p:nvGraphicFramePr>
        <p:xfrm>
          <a:off x="5865446" y="509954"/>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3">
            <a:extLst>
              <a:ext uri="{FF2B5EF4-FFF2-40B4-BE49-F238E27FC236}">
                <a16:creationId xmlns:a16="http://schemas.microsoft.com/office/drawing/2014/main" id="{40B1508C-50C1-4B4F-A7C3-510E28C9FB87}"/>
              </a:ext>
            </a:extLst>
          </p:cNvPr>
          <p:cNvGraphicFramePr>
            <a:graphicFrameLocks/>
          </p:cNvGraphicFramePr>
          <p:nvPr>
            <p:extLst>
              <p:ext uri="{D42A27DB-BD31-4B8C-83A1-F6EECF244321}">
                <p14:modId xmlns:p14="http://schemas.microsoft.com/office/powerpoint/2010/main" val="2576455091"/>
              </p:ext>
            </p:extLst>
          </p:nvPr>
        </p:nvGraphicFramePr>
        <p:xfrm>
          <a:off x="484554" y="3323492"/>
          <a:ext cx="4572000"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 name="Chart 4">
            <a:extLst>
              <a:ext uri="{FF2B5EF4-FFF2-40B4-BE49-F238E27FC236}">
                <a16:creationId xmlns:a16="http://schemas.microsoft.com/office/drawing/2014/main" id="{8F34EC66-8A1D-4AFB-8392-F9E3EC1D6720}"/>
              </a:ext>
            </a:extLst>
          </p:cNvPr>
          <p:cNvGraphicFramePr>
            <a:graphicFrameLocks/>
          </p:cNvGraphicFramePr>
          <p:nvPr>
            <p:extLst>
              <p:ext uri="{D42A27DB-BD31-4B8C-83A1-F6EECF244321}">
                <p14:modId xmlns:p14="http://schemas.microsoft.com/office/powerpoint/2010/main" val="1037787794"/>
              </p:ext>
            </p:extLst>
          </p:nvPr>
        </p:nvGraphicFramePr>
        <p:xfrm>
          <a:off x="5584092" y="3323492"/>
          <a:ext cx="4572000" cy="27432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18920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5B81BC07-6DDD-468F-8F47-F868A9097EC6}"/>
              </a:ext>
            </a:extLst>
          </p:cNvPr>
          <p:cNvGraphicFramePr>
            <a:graphicFrameLocks/>
          </p:cNvGraphicFramePr>
          <p:nvPr>
            <p:extLst>
              <p:ext uri="{D42A27DB-BD31-4B8C-83A1-F6EECF244321}">
                <p14:modId xmlns:p14="http://schemas.microsoft.com/office/powerpoint/2010/main" val="505639319"/>
              </p:ext>
            </p:extLst>
          </p:nvPr>
        </p:nvGraphicFramePr>
        <p:xfrm>
          <a:off x="136769" y="392723"/>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6633820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94BB294-5A59-45F5-B7B5-B5AB68A08C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65723"/>
            <a:ext cx="12192000" cy="5842000"/>
          </a:xfrm>
          <a:prstGeom prst="rect">
            <a:avLst/>
          </a:prstGeom>
        </p:spPr>
      </p:pic>
    </p:spTree>
    <p:extLst>
      <p:ext uri="{BB962C8B-B14F-4D97-AF65-F5344CB8AC3E}">
        <p14:creationId xmlns:p14="http://schemas.microsoft.com/office/powerpoint/2010/main" val="12065054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622E62C-E30D-4C84-A889-246526D04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3946"/>
            <a:ext cx="12192000" cy="5867400"/>
          </a:xfrm>
          <a:prstGeom prst="rect">
            <a:avLst/>
          </a:prstGeom>
        </p:spPr>
      </p:pic>
    </p:spTree>
    <p:extLst>
      <p:ext uri="{BB962C8B-B14F-4D97-AF65-F5344CB8AC3E}">
        <p14:creationId xmlns:p14="http://schemas.microsoft.com/office/powerpoint/2010/main" val="17722740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FD0A2-35ED-4078-B9FF-4BD83EEEFA78}"/>
              </a:ext>
            </a:extLst>
          </p:cNvPr>
          <p:cNvSpPr>
            <a:spLocks noGrp="1"/>
          </p:cNvSpPr>
          <p:nvPr>
            <p:ph type="title"/>
          </p:nvPr>
        </p:nvSpPr>
        <p:spPr/>
        <p:txBody>
          <a:bodyPr>
            <a:normAutofit/>
          </a:bodyPr>
          <a:lstStyle/>
          <a:p>
            <a:r>
              <a:rPr lang="en-US" sz="3200" dirty="0"/>
              <a:t>Observation and Conclusion for Problem 2</a:t>
            </a:r>
            <a:endParaRPr lang="en-IN" sz="3200" dirty="0"/>
          </a:p>
        </p:txBody>
      </p:sp>
      <p:sp>
        <p:nvSpPr>
          <p:cNvPr id="3" name="TextBox 2">
            <a:extLst>
              <a:ext uri="{FF2B5EF4-FFF2-40B4-BE49-F238E27FC236}">
                <a16:creationId xmlns:a16="http://schemas.microsoft.com/office/drawing/2014/main" id="{9EC9ED15-7E61-4B07-94D6-7E2D14959059}"/>
              </a:ext>
            </a:extLst>
          </p:cNvPr>
          <p:cNvSpPr txBox="1"/>
          <p:nvPr/>
        </p:nvSpPr>
        <p:spPr>
          <a:xfrm>
            <a:off x="515816" y="1867878"/>
            <a:ext cx="10531223" cy="1477328"/>
          </a:xfrm>
          <a:prstGeom prst="rect">
            <a:avLst/>
          </a:prstGeom>
          <a:noFill/>
        </p:spPr>
        <p:txBody>
          <a:bodyPr wrap="square" rtlCol="0">
            <a:spAutoFit/>
          </a:bodyPr>
          <a:lstStyle/>
          <a:p>
            <a:pPr marL="285750" indent="-285750">
              <a:buFont typeface="Arial" panose="020B0604020202020204" pitchFamily="34" charset="0"/>
              <a:buChar char="•"/>
            </a:pPr>
            <a:r>
              <a:rPr lang="en-US" dirty="0"/>
              <a:t>After executing the  problem 2 code for 10 different initial guesses, we are getting the approximately the same optimal function value 0.0000000 but with different optimal points.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As the given function is sinusoidal function, it will have many local minima’s. So most of the time the code gets converged to one of the local minima point that it is (1.99,4.99)</a:t>
            </a:r>
          </a:p>
        </p:txBody>
      </p:sp>
    </p:spTree>
    <p:extLst>
      <p:ext uri="{BB962C8B-B14F-4D97-AF65-F5344CB8AC3E}">
        <p14:creationId xmlns:p14="http://schemas.microsoft.com/office/powerpoint/2010/main" val="19459764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4E5453F9-F75C-499C-84B0-10D57CD994A9}"/>
              </a:ext>
            </a:extLst>
          </p:cNvPr>
          <p:cNvGraphicFramePr>
            <a:graphicFrameLocks noGrp="1"/>
          </p:cNvGraphicFramePr>
          <p:nvPr>
            <p:extLst>
              <p:ext uri="{D42A27DB-BD31-4B8C-83A1-F6EECF244321}">
                <p14:modId xmlns:p14="http://schemas.microsoft.com/office/powerpoint/2010/main" val="1596263254"/>
              </p:ext>
            </p:extLst>
          </p:nvPr>
        </p:nvGraphicFramePr>
        <p:xfrm>
          <a:off x="358140" y="1136914"/>
          <a:ext cx="11342631" cy="5486400"/>
        </p:xfrm>
        <a:graphic>
          <a:graphicData uri="http://schemas.openxmlformats.org/drawingml/2006/table">
            <a:tbl>
              <a:tblPr firstRow="1" bandRow="1">
                <a:tableStyleId>{93296810-A885-4BE3-A3E7-6D5BEEA58F35}</a:tableStyleId>
              </a:tblPr>
              <a:tblGrid>
                <a:gridCol w="2583180">
                  <a:extLst>
                    <a:ext uri="{9D8B030D-6E8A-4147-A177-3AD203B41FA5}">
                      <a16:colId xmlns:a16="http://schemas.microsoft.com/office/drawing/2014/main" val="453502675"/>
                    </a:ext>
                  </a:extLst>
                </a:gridCol>
                <a:gridCol w="3131820">
                  <a:extLst>
                    <a:ext uri="{9D8B030D-6E8A-4147-A177-3AD203B41FA5}">
                      <a16:colId xmlns:a16="http://schemas.microsoft.com/office/drawing/2014/main" val="1704837048"/>
                    </a:ext>
                  </a:extLst>
                </a:gridCol>
                <a:gridCol w="2836398">
                  <a:extLst>
                    <a:ext uri="{9D8B030D-6E8A-4147-A177-3AD203B41FA5}">
                      <a16:colId xmlns:a16="http://schemas.microsoft.com/office/drawing/2014/main" val="2234353904"/>
                    </a:ext>
                  </a:extLst>
                </a:gridCol>
                <a:gridCol w="1234831">
                  <a:extLst>
                    <a:ext uri="{9D8B030D-6E8A-4147-A177-3AD203B41FA5}">
                      <a16:colId xmlns:a16="http://schemas.microsoft.com/office/drawing/2014/main" val="1805833910"/>
                    </a:ext>
                  </a:extLst>
                </a:gridCol>
                <a:gridCol w="1556402">
                  <a:extLst>
                    <a:ext uri="{9D8B030D-6E8A-4147-A177-3AD203B41FA5}">
                      <a16:colId xmlns:a16="http://schemas.microsoft.com/office/drawing/2014/main" val="2789914627"/>
                    </a:ext>
                  </a:extLst>
                </a:gridCol>
              </a:tblGrid>
              <a:tr h="734316">
                <a:tc>
                  <a:txBody>
                    <a:bodyPr/>
                    <a:lstStyle/>
                    <a:p>
                      <a:r>
                        <a:rPr lang="en-US" dirty="0"/>
                        <a:t>Initial Point</a:t>
                      </a:r>
                    </a:p>
                    <a:p>
                      <a:r>
                        <a:rPr lang="en-US" dirty="0"/>
                        <a:t>(x1,x2,x3,x4,</a:t>
                      </a:r>
                    </a:p>
                    <a:p>
                      <a:r>
                        <a:rPr lang="en-US" dirty="0"/>
                        <a:t>x5,x6,x7,x8)</a:t>
                      </a:r>
                      <a:endParaRPr lang="en-IN" dirty="0"/>
                    </a:p>
                  </a:txBody>
                  <a:tcPr/>
                </a:tc>
                <a:tc>
                  <a:txBody>
                    <a:bodyPr/>
                    <a:lstStyle/>
                    <a:p>
                      <a:r>
                        <a:rPr lang="en-US" dirty="0"/>
                        <a:t>Optimal Point</a:t>
                      </a:r>
                    </a:p>
                    <a:p>
                      <a:r>
                        <a:rPr lang="en-US" dirty="0"/>
                        <a:t>(x1*,x2*,x3*,x4*,</a:t>
                      </a:r>
                    </a:p>
                    <a:p>
                      <a:r>
                        <a:rPr lang="en-US" dirty="0"/>
                        <a:t>x5*,x6*,x7*,x8*)</a:t>
                      </a:r>
                      <a:endParaRPr lang="en-IN" dirty="0"/>
                    </a:p>
                  </a:txBody>
                  <a:tcPr/>
                </a:tc>
                <a:tc>
                  <a:txBody>
                    <a:bodyPr/>
                    <a:lstStyle/>
                    <a:p>
                      <a:r>
                        <a:rPr lang="en-US" dirty="0"/>
                        <a:t>Optimal Value</a:t>
                      </a:r>
                    </a:p>
                    <a:p>
                      <a:r>
                        <a:rPr lang="en-US" dirty="0"/>
                        <a:t>F(x*)</a:t>
                      </a:r>
                      <a:endParaRPr lang="en-IN" dirty="0"/>
                    </a:p>
                  </a:txBody>
                  <a:tcPr/>
                </a:tc>
                <a:tc>
                  <a:txBody>
                    <a:bodyPr/>
                    <a:lstStyle/>
                    <a:p>
                      <a:r>
                        <a:rPr lang="en-US" dirty="0"/>
                        <a:t>Sequence</a:t>
                      </a:r>
                      <a:endParaRPr lang="en-IN" dirty="0"/>
                    </a:p>
                  </a:txBody>
                  <a:tcPr/>
                </a:tc>
                <a:tc>
                  <a:txBody>
                    <a:bodyPr/>
                    <a:lstStyle/>
                    <a:p>
                      <a:r>
                        <a:rPr lang="en-US" dirty="0"/>
                        <a:t>Function evaluations</a:t>
                      </a:r>
                      <a:endParaRPr lang="en-IN" dirty="0"/>
                    </a:p>
                  </a:txBody>
                  <a:tcPr/>
                </a:tc>
                <a:extLst>
                  <a:ext uri="{0D108BD9-81ED-4DB2-BD59-A6C34878D82A}">
                    <a16:rowId xmlns:a16="http://schemas.microsoft.com/office/drawing/2014/main" val="345767154"/>
                  </a:ext>
                </a:extLst>
              </a:tr>
              <a:tr h="425436">
                <a:tc>
                  <a:txBody>
                    <a:bodyPr/>
                    <a:lstStyle/>
                    <a:p>
                      <a:r>
                        <a:rPr lang="en-US" dirty="0"/>
                        <a:t>(6093.417158, 8962.034974, 3064.943388, 509.124119, 685.056307, 857.030549, 581.092257, 106.531571)</a:t>
                      </a:r>
                      <a:endParaRPr lang="en-IN" dirty="0"/>
                    </a:p>
                  </a:txBody>
                  <a:tcPr/>
                </a:tc>
                <a:tc>
                  <a:txBody>
                    <a:bodyPr/>
                    <a:lstStyle/>
                    <a:p>
                      <a:r>
                        <a:rPr lang="en-US" dirty="0"/>
                        <a:t>(-16242148914011.535000, -16242149084706.582000,</a:t>
                      </a:r>
                    </a:p>
                    <a:p>
                      <a:r>
                        <a:rPr lang="en-US" dirty="0"/>
                        <a:t>-16242148515752.902000, </a:t>
                      </a:r>
                    </a:p>
                    <a:p>
                      <a:r>
                        <a:rPr lang="en-US" dirty="0"/>
                        <a:t>-80240.156901, 44422.783453, </a:t>
                      </a:r>
                    </a:p>
                    <a:p>
                      <a:r>
                        <a:rPr lang="en-US" dirty="0"/>
                        <a:t>-26965.696123, </a:t>
                      </a:r>
                    </a:p>
                    <a:p>
                      <a:r>
                        <a:rPr lang="en-US" dirty="0"/>
                        <a:t>-142332.957931, </a:t>
                      </a:r>
                    </a:p>
                    <a:p>
                      <a:r>
                        <a:rPr lang="en-US" dirty="0"/>
                        <a:t>-193256.737848)</a:t>
                      </a:r>
                      <a:endParaRPr lang="en-IN" dirty="0"/>
                    </a:p>
                  </a:txBody>
                  <a:tcPr/>
                </a:tc>
                <a:tc>
                  <a:txBody>
                    <a:bodyPr/>
                    <a:lstStyle/>
                    <a:p>
                      <a:r>
                        <a:rPr lang="en-US" dirty="0"/>
                        <a:t>-48726446514471.016000 </a:t>
                      </a:r>
                      <a:endParaRPr lang="en-IN" dirty="0"/>
                    </a:p>
                  </a:txBody>
                  <a:tcPr/>
                </a:tc>
                <a:tc>
                  <a:txBody>
                    <a:bodyPr/>
                    <a:lstStyle/>
                    <a:p>
                      <a:r>
                        <a:rPr lang="en-US" dirty="0"/>
                        <a:t>5</a:t>
                      </a:r>
                      <a:endParaRPr lang="en-IN" dirty="0"/>
                    </a:p>
                  </a:txBody>
                  <a:tcPr/>
                </a:tc>
                <a:tc>
                  <a:txBody>
                    <a:bodyPr/>
                    <a:lstStyle/>
                    <a:p>
                      <a:r>
                        <a:rPr lang="en-US" dirty="0"/>
                        <a:t>84046</a:t>
                      </a:r>
                      <a:endParaRPr lang="en-IN" dirty="0"/>
                    </a:p>
                  </a:txBody>
                  <a:tcPr/>
                </a:tc>
                <a:extLst>
                  <a:ext uri="{0D108BD9-81ED-4DB2-BD59-A6C34878D82A}">
                    <a16:rowId xmlns:a16="http://schemas.microsoft.com/office/drawing/2014/main" val="2232598309"/>
                  </a:ext>
                </a:extLst>
              </a:tr>
              <a:tr h="425436">
                <a:tc>
                  <a:txBody>
                    <a:bodyPr/>
                    <a:lstStyle/>
                    <a:p>
                      <a:r>
                        <a:rPr lang="en-US" dirty="0"/>
                        <a:t>(6231.492050, 8261.360515, 5980.803858, 320.592975, 753.006073, 636.050295, 875.944090, 594.960173)</a:t>
                      </a:r>
                      <a:endParaRPr lang="en-IN" dirty="0"/>
                    </a:p>
                  </a:txBody>
                  <a:tcPr/>
                </a:tc>
                <a:tc>
                  <a:txBody>
                    <a:bodyPr/>
                    <a:lstStyle/>
                    <a:p>
                      <a:r>
                        <a:rPr lang="en-US" dirty="0"/>
                        <a:t>(-2604514381164.074700, -2604501233157.835900, -2604501243719.117200, 20293.700142, 58114.610910, -23901.436028, -62352.515110, -645038.226115)</a:t>
                      </a:r>
                      <a:endParaRPr lang="en-IN" dirty="0"/>
                    </a:p>
                  </a:txBody>
                  <a:tcPr/>
                </a:tc>
                <a:tc>
                  <a:txBody>
                    <a:bodyPr/>
                    <a:lstStyle/>
                    <a:p>
                      <a:r>
                        <a:rPr lang="en-US" dirty="0"/>
                        <a:t>-7813516858041.027300</a:t>
                      </a:r>
                      <a:endParaRPr lang="en-IN" dirty="0"/>
                    </a:p>
                  </a:txBody>
                  <a:tcPr/>
                </a:tc>
                <a:tc>
                  <a:txBody>
                    <a:bodyPr/>
                    <a:lstStyle/>
                    <a:p>
                      <a:r>
                        <a:rPr lang="en-US" dirty="0"/>
                        <a:t>6</a:t>
                      </a:r>
                      <a:endParaRPr lang="en-IN" dirty="0"/>
                    </a:p>
                  </a:txBody>
                  <a:tcPr/>
                </a:tc>
                <a:tc>
                  <a:txBody>
                    <a:bodyPr/>
                    <a:lstStyle/>
                    <a:p>
                      <a:r>
                        <a:rPr lang="en-US" dirty="0"/>
                        <a:t>68615</a:t>
                      </a:r>
                      <a:endParaRPr lang="en-IN" dirty="0"/>
                    </a:p>
                  </a:txBody>
                  <a:tcPr/>
                </a:tc>
                <a:extLst>
                  <a:ext uri="{0D108BD9-81ED-4DB2-BD59-A6C34878D82A}">
                    <a16:rowId xmlns:a16="http://schemas.microsoft.com/office/drawing/2014/main" val="4245364572"/>
                  </a:ext>
                </a:extLst>
              </a:tr>
            </a:tbl>
          </a:graphicData>
        </a:graphic>
      </p:graphicFrame>
      <p:sp>
        <p:nvSpPr>
          <p:cNvPr id="3" name="TextBox 2">
            <a:extLst>
              <a:ext uri="{FF2B5EF4-FFF2-40B4-BE49-F238E27FC236}">
                <a16:creationId xmlns:a16="http://schemas.microsoft.com/office/drawing/2014/main" id="{3ACCABFF-6496-4A43-A5B8-66011EAD4C66}"/>
              </a:ext>
            </a:extLst>
          </p:cNvPr>
          <p:cNvSpPr txBox="1"/>
          <p:nvPr/>
        </p:nvSpPr>
        <p:spPr>
          <a:xfrm>
            <a:off x="4660778" y="409244"/>
            <a:ext cx="2855269" cy="646331"/>
          </a:xfrm>
          <a:prstGeom prst="rect">
            <a:avLst/>
          </a:prstGeom>
          <a:noFill/>
        </p:spPr>
        <p:txBody>
          <a:bodyPr wrap="none" rtlCol="0">
            <a:spAutoFit/>
          </a:bodyPr>
          <a:lstStyle/>
          <a:p>
            <a:r>
              <a:rPr lang="en-US" sz="3600" b="1" dirty="0"/>
              <a:t>PROBLEM 3</a:t>
            </a:r>
            <a:endParaRPr lang="en-IN" sz="3600" b="1" dirty="0"/>
          </a:p>
        </p:txBody>
      </p:sp>
    </p:spTree>
    <p:extLst>
      <p:ext uri="{BB962C8B-B14F-4D97-AF65-F5344CB8AC3E}">
        <p14:creationId xmlns:p14="http://schemas.microsoft.com/office/powerpoint/2010/main" val="41404754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5669790-8D5A-43A5-9F92-1262F6224A6E}"/>
              </a:ext>
            </a:extLst>
          </p:cNvPr>
          <p:cNvGraphicFramePr>
            <a:graphicFrameLocks noGrp="1"/>
          </p:cNvGraphicFramePr>
          <p:nvPr>
            <p:extLst>
              <p:ext uri="{D42A27DB-BD31-4B8C-83A1-F6EECF244321}">
                <p14:modId xmlns:p14="http://schemas.microsoft.com/office/powerpoint/2010/main" val="1611910616"/>
              </p:ext>
            </p:extLst>
          </p:nvPr>
        </p:nvGraphicFramePr>
        <p:xfrm>
          <a:off x="358140" y="1136914"/>
          <a:ext cx="11342631" cy="5486400"/>
        </p:xfrm>
        <a:graphic>
          <a:graphicData uri="http://schemas.openxmlformats.org/drawingml/2006/table">
            <a:tbl>
              <a:tblPr firstRow="1" bandRow="1">
                <a:tableStyleId>{93296810-A885-4BE3-A3E7-6D5BEEA58F35}</a:tableStyleId>
              </a:tblPr>
              <a:tblGrid>
                <a:gridCol w="2583180">
                  <a:extLst>
                    <a:ext uri="{9D8B030D-6E8A-4147-A177-3AD203B41FA5}">
                      <a16:colId xmlns:a16="http://schemas.microsoft.com/office/drawing/2014/main" val="453502675"/>
                    </a:ext>
                  </a:extLst>
                </a:gridCol>
                <a:gridCol w="3131820">
                  <a:extLst>
                    <a:ext uri="{9D8B030D-6E8A-4147-A177-3AD203B41FA5}">
                      <a16:colId xmlns:a16="http://schemas.microsoft.com/office/drawing/2014/main" val="1704837048"/>
                    </a:ext>
                  </a:extLst>
                </a:gridCol>
                <a:gridCol w="2766060">
                  <a:extLst>
                    <a:ext uri="{9D8B030D-6E8A-4147-A177-3AD203B41FA5}">
                      <a16:colId xmlns:a16="http://schemas.microsoft.com/office/drawing/2014/main" val="2234353904"/>
                    </a:ext>
                  </a:extLst>
                </a:gridCol>
                <a:gridCol w="1250462">
                  <a:extLst>
                    <a:ext uri="{9D8B030D-6E8A-4147-A177-3AD203B41FA5}">
                      <a16:colId xmlns:a16="http://schemas.microsoft.com/office/drawing/2014/main" val="1805833910"/>
                    </a:ext>
                  </a:extLst>
                </a:gridCol>
                <a:gridCol w="1611109">
                  <a:extLst>
                    <a:ext uri="{9D8B030D-6E8A-4147-A177-3AD203B41FA5}">
                      <a16:colId xmlns:a16="http://schemas.microsoft.com/office/drawing/2014/main" val="2789914627"/>
                    </a:ext>
                  </a:extLst>
                </a:gridCol>
              </a:tblGrid>
              <a:tr h="734316">
                <a:tc>
                  <a:txBody>
                    <a:bodyPr/>
                    <a:lstStyle/>
                    <a:p>
                      <a:r>
                        <a:rPr lang="en-US" dirty="0"/>
                        <a:t>Initial Point</a:t>
                      </a:r>
                    </a:p>
                    <a:p>
                      <a:r>
                        <a:rPr lang="en-US" dirty="0"/>
                        <a:t>(x1,x2,x3,x4,</a:t>
                      </a:r>
                    </a:p>
                    <a:p>
                      <a:r>
                        <a:rPr lang="en-US" dirty="0"/>
                        <a:t>x5,x6,x7,x8)</a:t>
                      </a:r>
                      <a:endParaRPr lang="en-IN" dirty="0"/>
                    </a:p>
                  </a:txBody>
                  <a:tcPr/>
                </a:tc>
                <a:tc>
                  <a:txBody>
                    <a:bodyPr/>
                    <a:lstStyle/>
                    <a:p>
                      <a:r>
                        <a:rPr lang="en-US" dirty="0"/>
                        <a:t>Optimal Point</a:t>
                      </a:r>
                    </a:p>
                    <a:p>
                      <a:r>
                        <a:rPr lang="en-US" dirty="0"/>
                        <a:t>(x1*,x2*,x3*,x4*,</a:t>
                      </a:r>
                    </a:p>
                    <a:p>
                      <a:r>
                        <a:rPr lang="en-US" dirty="0"/>
                        <a:t>x5*,x6*,x7*,x8*)</a:t>
                      </a:r>
                      <a:endParaRPr lang="en-IN" dirty="0"/>
                    </a:p>
                  </a:txBody>
                  <a:tcPr/>
                </a:tc>
                <a:tc>
                  <a:txBody>
                    <a:bodyPr/>
                    <a:lstStyle/>
                    <a:p>
                      <a:r>
                        <a:rPr lang="en-US" dirty="0"/>
                        <a:t>Optimal Value</a:t>
                      </a:r>
                    </a:p>
                    <a:p>
                      <a:r>
                        <a:rPr lang="en-US" dirty="0"/>
                        <a:t>F(x*)</a:t>
                      </a:r>
                      <a:endParaRPr lang="en-IN" dirty="0"/>
                    </a:p>
                  </a:txBody>
                  <a:tcPr/>
                </a:tc>
                <a:tc>
                  <a:txBody>
                    <a:bodyPr/>
                    <a:lstStyle/>
                    <a:p>
                      <a:r>
                        <a:rPr lang="en-US" dirty="0"/>
                        <a:t>Sequence</a:t>
                      </a:r>
                      <a:endParaRPr lang="en-IN" dirty="0"/>
                    </a:p>
                  </a:txBody>
                  <a:tcPr/>
                </a:tc>
                <a:tc>
                  <a:txBody>
                    <a:bodyPr/>
                    <a:lstStyle/>
                    <a:p>
                      <a:r>
                        <a:rPr lang="en-US" dirty="0"/>
                        <a:t>Function evaluations</a:t>
                      </a:r>
                      <a:endParaRPr lang="en-IN" dirty="0"/>
                    </a:p>
                  </a:txBody>
                  <a:tcPr/>
                </a:tc>
                <a:extLst>
                  <a:ext uri="{0D108BD9-81ED-4DB2-BD59-A6C34878D82A}">
                    <a16:rowId xmlns:a16="http://schemas.microsoft.com/office/drawing/2014/main" val="345767154"/>
                  </a:ext>
                </a:extLst>
              </a:tr>
              <a:tr h="425436">
                <a:tc>
                  <a:txBody>
                    <a:bodyPr/>
                    <a:lstStyle/>
                    <a:p>
                      <a:r>
                        <a:rPr lang="en-US" dirty="0"/>
                        <a:t>(1768.379772, 3122.898038, 8762.077700, 128.254952, 574.868313, 162.063662, 293.400983, 673.514817)</a:t>
                      </a:r>
                      <a:endParaRPr lang="en-IN" dirty="0"/>
                    </a:p>
                  </a:txBody>
                  <a:tcPr/>
                </a:tc>
                <a:tc>
                  <a:txBody>
                    <a:bodyPr/>
                    <a:lstStyle/>
                    <a:p>
                      <a:r>
                        <a:rPr lang="en-US" dirty="0"/>
                        <a:t>-4954939887780.861300, -4954940387746.099600, -4954940076775.793000, 66649.882979, 58606.929900, -116956.300658, -42521.659987, -1078782.911504)</a:t>
                      </a:r>
                      <a:endParaRPr lang="en-IN" dirty="0"/>
                    </a:p>
                  </a:txBody>
                  <a:tcPr/>
                </a:tc>
                <a:tc>
                  <a:txBody>
                    <a:bodyPr/>
                    <a:lstStyle/>
                    <a:p>
                      <a:r>
                        <a:rPr lang="en-US" dirty="0"/>
                        <a:t>-14864820352302.754000</a:t>
                      </a:r>
                      <a:endParaRPr lang="en-IN" dirty="0"/>
                    </a:p>
                  </a:txBody>
                  <a:tcPr/>
                </a:tc>
                <a:tc>
                  <a:txBody>
                    <a:bodyPr/>
                    <a:lstStyle/>
                    <a:p>
                      <a:r>
                        <a:rPr lang="en-US" dirty="0"/>
                        <a:t>5</a:t>
                      </a:r>
                      <a:endParaRPr lang="en-IN" dirty="0"/>
                    </a:p>
                  </a:txBody>
                  <a:tcPr/>
                </a:tc>
                <a:tc>
                  <a:txBody>
                    <a:bodyPr/>
                    <a:lstStyle/>
                    <a:p>
                      <a:r>
                        <a:rPr lang="en-US" dirty="0"/>
                        <a:t>48666</a:t>
                      </a:r>
                      <a:endParaRPr lang="en-IN" dirty="0"/>
                    </a:p>
                  </a:txBody>
                  <a:tcPr/>
                </a:tc>
                <a:extLst>
                  <a:ext uri="{0D108BD9-81ED-4DB2-BD59-A6C34878D82A}">
                    <a16:rowId xmlns:a16="http://schemas.microsoft.com/office/drawing/2014/main" val="2232598309"/>
                  </a:ext>
                </a:extLst>
              </a:tr>
              <a:tr h="425436">
                <a:tc>
                  <a:txBody>
                    <a:bodyPr/>
                    <a:lstStyle/>
                    <a:p>
                      <a:r>
                        <a:rPr lang="en-US" dirty="0"/>
                        <a:t>(1626.075014, 1014.831996, 4219.916379, 378.753624, 250.437635, 898.513443, 612.453688, 538.884243)</a:t>
                      </a:r>
                      <a:endParaRPr lang="en-IN" dirty="0"/>
                    </a:p>
                  </a:txBody>
                  <a:tcPr/>
                </a:tc>
                <a:tc>
                  <a:txBody>
                    <a:bodyPr/>
                    <a:lstStyle/>
                    <a:p>
                      <a:r>
                        <a:rPr lang="en-US" dirty="0"/>
                        <a:t>(-5563082088902.931600, -5563082083979.416000, -5563082088880.117200, -673.343452, 39.570671, -404.561663, -952.691050, -874.899038)</a:t>
                      </a:r>
                      <a:endParaRPr lang="en-IN" dirty="0"/>
                    </a:p>
                  </a:txBody>
                  <a:tcPr/>
                </a:tc>
                <a:tc>
                  <a:txBody>
                    <a:bodyPr/>
                    <a:lstStyle/>
                    <a:p>
                      <a:r>
                        <a:rPr lang="en-US" dirty="0"/>
                        <a:t>-16689246261762.465000</a:t>
                      </a:r>
                      <a:endParaRPr lang="en-IN" dirty="0"/>
                    </a:p>
                  </a:txBody>
                  <a:tcPr/>
                </a:tc>
                <a:tc>
                  <a:txBody>
                    <a:bodyPr/>
                    <a:lstStyle/>
                    <a:p>
                      <a:r>
                        <a:rPr lang="en-US" dirty="0"/>
                        <a:t>5</a:t>
                      </a:r>
                      <a:endParaRPr lang="en-IN" dirty="0"/>
                    </a:p>
                  </a:txBody>
                  <a:tcPr/>
                </a:tc>
                <a:tc>
                  <a:txBody>
                    <a:bodyPr/>
                    <a:lstStyle/>
                    <a:p>
                      <a:r>
                        <a:rPr lang="en-US" dirty="0"/>
                        <a:t>62233</a:t>
                      </a:r>
                      <a:endParaRPr lang="en-IN" dirty="0"/>
                    </a:p>
                  </a:txBody>
                  <a:tcPr/>
                </a:tc>
                <a:extLst>
                  <a:ext uri="{0D108BD9-81ED-4DB2-BD59-A6C34878D82A}">
                    <a16:rowId xmlns:a16="http://schemas.microsoft.com/office/drawing/2014/main" val="4245364572"/>
                  </a:ext>
                </a:extLst>
              </a:tr>
            </a:tbl>
          </a:graphicData>
        </a:graphic>
      </p:graphicFrame>
      <p:sp>
        <p:nvSpPr>
          <p:cNvPr id="3" name="TextBox 2">
            <a:extLst>
              <a:ext uri="{FF2B5EF4-FFF2-40B4-BE49-F238E27FC236}">
                <a16:creationId xmlns:a16="http://schemas.microsoft.com/office/drawing/2014/main" id="{E82C1396-7552-49F1-B49E-675BD0DF9074}"/>
              </a:ext>
            </a:extLst>
          </p:cNvPr>
          <p:cNvSpPr txBox="1"/>
          <p:nvPr/>
        </p:nvSpPr>
        <p:spPr>
          <a:xfrm>
            <a:off x="4660778" y="409244"/>
            <a:ext cx="2855269" cy="646331"/>
          </a:xfrm>
          <a:prstGeom prst="rect">
            <a:avLst/>
          </a:prstGeom>
          <a:noFill/>
        </p:spPr>
        <p:txBody>
          <a:bodyPr wrap="none" rtlCol="0">
            <a:spAutoFit/>
          </a:bodyPr>
          <a:lstStyle/>
          <a:p>
            <a:r>
              <a:rPr lang="en-US" sz="3600" b="1" dirty="0"/>
              <a:t>PROBLEM 3</a:t>
            </a:r>
            <a:endParaRPr lang="en-IN" sz="3600" b="1" dirty="0"/>
          </a:p>
        </p:txBody>
      </p:sp>
    </p:spTree>
    <p:extLst>
      <p:ext uri="{BB962C8B-B14F-4D97-AF65-F5344CB8AC3E}">
        <p14:creationId xmlns:p14="http://schemas.microsoft.com/office/powerpoint/2010/main" val="18477673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377E04E3-186E-4649-84BC-A526025EB0DE}"/>
              </a:ext>
            </a:extLst>
          </p:cNvPr>
          <p:cNvGraphicFramePr>
            <a:graphicFrameLocks/>
          </p:cNvGraphicFramePr>
          <p:nvPr>
            <p:extLst>
              <p:ext uri="{D42A27DB-BD31-4B8C-83A1-F6EECF244321}">
                <p14:modId xmlns:p14="http://schemas.microsoft.com/office/powerpoint/2010/main" val="384222745"/>
              </p:ext>
            </p:extLst>
          </p:nvPr>
        </p:nvGraphicFramePr>
        <p:xfrm>
          <a:off x="910492" y="760046"/>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2238766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A0970AEE-0DBE-4C84-8AD5-5C7F2693E193}"/>
              </a:ext>
            </a:extLst>
          </p:cNvPr>
          <p:cNvGraphicFramePr>
            <a:graphicFrameLocks/>
          </p:cNvGraphicFramePr>
          <p:nvPr>
            <p:extLst>
              <p:ext uri="{D42A27DB-BD31-4B8C-83A1-F6EECF244321}">
                <p14:modId xmlns:p14="http://schemas.microsoft.com/office/powerpoint/2010/main" val="2904797805"/>
              </p:ext>
            </p:extLst>
          </p:nvPr>
        </p:nvGraphicFramePr>
        <p:xfrm>
          <a:off x="324338" y="541216"/>
          <a:ext cx="4572000"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Chart 2">
            <a:extLst>
              <a:ext uri="{FF2B5EF4-FFF2-40B4-BE49-F238E27FC236}">
                <a16:creationId xmlns:a16="http://schemas.microsoft.com/office/drawing/2014/main" id="{D0CC4337-2BB0-4994-9C77-92A31C8146EA}"/>
              </a:ext>
            </a:extLst>
          </p:cNvPr>
          <p:cNvGraphicFramePr>
            <a:graphicFrameLocks/>
          </p:cNvGraphicFramePr>
          <p:nvPr>
            <p:extLst>
              <p:ext uri="{D42A27DB-BD31-4B8C-83A1-F6EECF244321}">
                <p14:modId xmlns:p14="http://schemas.microsoft.com/office/powerpoint/2010/main" val="1718647679"/>
              </p:ext>
            </p:extLst>
          </p:nvPr>
        </p:nvGraphicFramePr>
        <p:xfrm>
          <a:off x="5232400" y="541216"/>
          <a:ext cx="4572000" cy="2743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 3">
            <a:extLst>
              <a:ext uri="{FF2B5EF4-FFF2-40B4-BE49-F238E27FC236}">
                <a16:creationId xmlns:a16="http://schemas.microsoft.com/office/drawing/2014/main" id="{AFAEDA79-3722-4771-B98D-F17EB12D09C4}"/>
              </a:ext>
            </a:extLst>
          </p:cNvPr>
          <p:cNvGraphicFramePr>
            <a:graphicFrameLocks/>
          </p:cNvGraphicFramePr>
          <p:nvPr>
            <p:extLst>
              <p:ext uri="{D42A27DB-BD31-4B8C-83A1-F6EECF244321}">
                <p14:modId xmlns:p14="http://schemas.microsoft.com/office/powerpoint/2010/main" val="1917269669"/>
              </p:ext>
            </p:extLst>
          </p:nvPr>
        </p:nvGraphicFramePr>
        <p:xfrm>
          <a:off x="433753" y="3429000"/>
          <a:ext cx="4572000"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 name="Chart 4">
            <a:extLst>
              <a:ext uri="{FF2B5EF4-FFF2-40B4-BE49-F238E27FC236}">
                <a16:creationId xmlns:a16="http://schemas.microsoft.com/office/drawing/2014/main" id="{4322FC22-527D-4ACC-A979-AB0628414409}"/>
              </a:ext>
            </a:extLst>
          </p:cNvPr>
          <p:cNvGraphicFramePr>
            <a:graphicFrameLocks/>
          </p:cNvGraphicFramePr>
          <p:nvPr>
            <p:extLst>
              <p:ext uri="{D42A27DB-BD31-4B8C-83A1-F6EECF244321}">
                <p14:modId xmlns:p14="http://schemas.microsoft.com/office/powerpoint/2010/main" val="3507297956"/>
              </p:ext>
            </p:extLst>
          </p:nvPr>
        </p:nvGraphicFramePr>
        <p:xfrm>
          <a:off x="5232400" y="3429000"/>
          <a:ext cx="4572000" cy="27432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3423436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8CFD4A6C-DEEF-4C7A-A68F-2C9042E92DA5}"/>
              </a:ext>
            </a:extLst>
          </p:cNvPr>
          <p:cNvGraphicFramePr>
            <a:graphicFrameLocks/>
          </p:cNvGraphicFramePr>
          <p:nvPr>
            <p:extLst>
              <p:ext uri="{D42A27DB-BD31-4B8C-83A1-F6EECF244321}">
                <p14:modId xmlns:p14="http://schemas.microsoft.com/office/powerpoint/2010/main" val="4166969898"/>
              </p:ext>
            </p:extLst>
          </p:nvPr>
        </p:nvGraphicFramePr>
        <p:xfrm>
          <a:off x="941754" y="439615"/>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548691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465C2-0DF4-420D-8588-A039CB83A484}"/>
              </a:ext>
            </a:extLst>
          </p:cNvPr>
          <p:cNvSpPr>
            <a:spLocks noGrp="1"/>
          </p:cNvSpPr>
          <p:nvPr>
            <p:ph type="title"/>
          </p:nvPr>
        </p:nvSpPr>
        <p:spPr>
          <a:xfrm>
            <a:off x="677333" y="609600"/>
            <a:ext cx="9146603" cy="1320800"/>
          </a:xfrm>
        </p:spPr>
        <p:txBody>
          <a:bodyPr/>
          <a:lstStyle/>
          <a:p>
            <a:r>
              <a:rPr lang="en-US" dirty="0"/>
              <a:t>Conclusion and observation for Problem 3</a:t>
            </a:r>
            <a:endParaRPr lang="en-IN" dirty="0"/>
          </a:p>
        </p:txBody>
      </p:sp>
      <p:sp>
        <p:nvSpPr>
          <p:cNvPr id="3" name="TextBox 2">
            <a:extLst>
              <a:ext uri="{FF2B5EF4-FFF2-40B4-BE49-F238E27FC236}">
                <a16:creationId xmlns:a16="http://schemas.microsoft.com/office/drawing/2014/main" id="{A2A33619-BB21-4C04-AF38-87215CC637C2}"/>
              </a:ext>
            </a:extLst>
          </p:cNvPr>
          <p:cNvSpPr txBox="1"/>
          <p:nvPr/>
        </p:nvSpPr>
        <p:spPr>
          <a:xfrm>
            <a:off x="677334" y="1860062"/>
            <a:ext cx="9146604" cy="3139321"/>
          </a:xfrm>
          <a:prstGeom prst="rect">
            <a:avLst/>
          </a:prstGeom>
          <a:noFill/>
        </p:spPr>
        <p:txBody>
          <a:bodyPr wrap="square" rtlCol="0">
            <a:spAutoFit/>
          </a:bodyPr>
          <a:lstStyle/>
          <a:p>
            <a:pPr marL="285750" indent="-285750">
              <a:buFont typeface="Arial" panose="020B0604020202020204" pitchFamily="34" charset="0"/>
              <a:buChar char="•"/>
            </a:pPr>
            <a:r>
              <a:rPr lang="en-US" dirty="0"/>
              <a:t>Code is working for 10 different runs but is not converging near to expected values.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Possible reason for not converging is the linear behavior of the function itself. So the second derivative terms of f(x) would be zero. Hence penalty function P(x) will only participate in </a:t>
            </a:r>
            <a:r>
              <a:rPr lang="en-US" dirty="0" err="1"/>
              <a:t>hassian</a:t>
            </a:r>
            <a:r>
              <a:rPr lang="en-US" dirty="0"/>
              <a:t> calculation.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Here Marquart’s method may not be able to give the correct results.</a:t>
            </a:r>
            <a:r>
              <a:rPr lang="en-IN" dirty="0"/>
              <a:t> So we need to look forward to a different method that does not involve the hessian matrix.</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D</a:t>
            </a:r>
            <a:r>
              <a:rPr lang="en-IN" dirty="0" err="1"/>
              <a:t>irect</a:t>
            </a:r>
            <a:r>
              <a:rPr lang="en-IN" dirty="0"/>
              <a:t> search method might be useful to find the optimal solution to such types of linear objective function.</a:t>
            </a:r>
            <a:endParaRPr lang="en-US" dirty="0"/>
          </a:p>
        </p:txBody>
      </p:sp>
    </p:spTree>
    <p:extLst>
      <p:ext uri="{BB962C8B-B14F-4D97-AF65-F5344CB8AC3E}">
        <p14:creationId xmlns:p14="http://schemas.microsoft.com/office/powerpoint/2010/main" val="29300274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6E7A8-782F-469A-90EF-47F44603DA4F}"/>
              </a:ext>
            </a:extLst>
          </p:cNvPr>
          <p:cNvSpPr>
            <a:spLocks noGrp="1"/>
          </p:cNvSpPr>
          <p:nvPr>
            <p:ph type="title"/>
          </p:nvPr>
        </p:nvSpPr>
        <p:spPr/>
        <p:txBody>
          <a:bodyPr/>
          <a:lstStyle/>
          <a:p>
            <a:r>
              <a:rPr lang="en-US" dirty="0"/>
              <a:t>Conclusion</a:t>
            </a:r>
            <a:endParaRPr lang="en-IN" dirty="0"/>
          </a:p>
        </p:txBody>
      </p:sp>
      <p:sp>
        <p:nvSpPr>
          <p:cNvPr id="3" name="TextBox 2">
            <a:extLst>
              <a:ext uri="{FF2B5EF4-FFF2-40B4-BE49-F238E27FC236}">
                <a16:creationId xmlns:a16="http://schemas.microsoft.com/office/drawing/2014/main" id="{C5AB152F-DA78-48E3-9ECF-49B5829EBC5A}"/>
              </a:ext>
            </a:extLst>
          </p:cNvPr>
          <p:cNvSpPr txBox="1"/>
          <p:nvPr/>
        </p:nvSpPr>
        <p:spPr>
          <a:xfrm>
            <a:off x="445477" y="2008554"/>
            <a:ext cx="10863384" cy="2308324"/>
          </a:xfrm>
          <a:prstGeom prst="rect">
            <a:avLst/>
          </a:prstGeom>
          <a:noFill/>
        </p:spPr>
        <p:txBody>
          <a:bodyPr wrap="square" rtlCol="0">
            <a:spAutoFit/>
          </a:bodyPr>
          <a:lstStyle/>
          <a:p>
            <a:r>
              <a:rPr lang="en-US" dirty="0"/>
              <a:t>In this project we implement c programming for solving the single variable as well as multivariable , constrained as well as unconstrained type of problems.</a:t>
            </a:r>
          </a:p>
          <a:p>
            <a:endParaRPr lang="en-US" dirty="0"/>
          </a:p>
          <a:p>
            <a:r>
              <a:rPr lang="en-US" dirty="0"/>
              <a:t>At larger value of ‘R’, Marquart’s method converges in less number of iterations.</a:t>
            </a:r>
          </a:p>
          <a:p>
            <a:endParaRPr lang="en-US" dirty="0"/>
          </a:p>
          <a:p>
            <a:r>
              <a:rPr lang="en-US" dirty="0"/>
              <a:t>For the sequence with larger ‘R’ value, the function evaluations are also less.</a:t>
            </a:r>
          </a:p>
          <a:p>
            <a:endParaRPr lang="en-US" dirty="0"/>
          </a:p>
          <a:p>
            <a:r>
              <a:rPr lang="en-US" dirty="0"/>
              <a:t>Every method can not be used for optimizing all types of objective function</a:t>
            </a:r>
          </a:p>
        </p:txBody>
      </p:sp>
    </p:spTree>
    <p:extLst>
      <p:ext uri="{BB962C8B-B14F-4D97-AF65-F5344CB8AC3E}">
        <p14:creationId xmlns:p14="http://schemas.microsoft.com/office/powerpoint/2010/main" val="53720740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1388</TotalTime>
  <Words>1280</Words>
  <Application>Microsoft Office PowerPoint</Application>
  <PresentationFormat>Widescreen</PresentationFormat>
  <Paragraphs>301</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Trebuchet MS</vt:lpstr>
      <vt:lpstr>Wingdings 3</vt:lpstr>
      <vt:lpstr>Facet</vt:lpstr>
      <vt:lpstr>Multivariable Constrained Optimization</vt:lpstr>
      <vt:lpstr>PowerPoint Presentation</vt:lpstr>
      <vt:lpstr>Bracket Operator Penalty method</vt:lpstr>
      <vt:lpstr>Marquart’s Method</vt:lpstr>
      <vt:lpstr>PowerPoint Presentation</vt:lpstr>
      <vt:lpstr>PowerPoint Presentation</vt:lpstr>
      <vt:lpstr>PowerPoint Presentation</vt:lpstr>
      <vt:lpstr>PowerPoint Presentation</vt:lpstr>
      <vt:lpstr>Conclusion and Observation of Problem 1</vt:lpstr>
      <vt:lpstr>PowerPoint Presentation</vt:lpstr>
      <vt:lpstr>PowerPoint Presentation</vt:lpstr>
      <vt:lpstr>PowerPoint Presentation</vt:lpstr>
      <vt:lpstr>PowerPoint Presentation</vt:lpstr>
      <vt:lpstr>PowerPoint Presentation</vt:lpstr>
      <vt:lpstr>PowerPoint Presentation</vt:lpstr>
      <vt:lpstr>Observation and Conclusion for Problem 2</vt:lpstr>
      <vt:lpstr>PowerPoint Presentation</vt:lpstr>
      <vt:lpstr>PowerPoint Presentation</vt:lpstr>
      <vt:lpstr>PowerPoint Presentation</vt:lpstr>
      <vt:lpstr>PowerPoint Presentation</vt:lpstr>
      <vt:lpstr>PowerPoint Presentation</vt:lpstr>
      <vt:lpstr>Conclusion and observation for Problem 3</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DUSHYANT PRATAP SINGH</dc:creator>
  <cp:lastModifiedBy>Dushyant</cp:lastModifiedBy>
  <cp:revision>70</cp:revision>
  <dcterms:created xsi:type="dcterms:W3CDTF">2024-11-04T19:47:42Z</dcterms:created>
  <dcterms:modified xsi:type="dcterms:W3CDTF">2024-11-09T11:18:15Z</dcterms:modified>
</cp:coreProperties>
</file>