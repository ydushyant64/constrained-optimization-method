
<file path=[Content_Types].xml><?xml version="1.0" encoding="utf-8"?>
<Types xmlns="http://schemas.openxmlformats.org/package/2006/content-types">
  <Default Extension="png" ContentType="image/png"/>
  <Default Extension="tmp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928B47-2B5F-4FC2-A689-956ED1DE71C7}" v="9" dt="2024-10-07T12:33:02.9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as prajapati" userId="88351d9bd4d4f9a7" providerId="LiveId" clId="{81928B47-2B5F-4FC2-A689-956ED1DE71C7}"/>
    <pc:docChg chg="custSel modSld">
      <pc:chgData name="Vikas prajapati" userId="88351d9bd4d4f9a7" providerId="LiveId" clId="{81928B47-2B5F-4FC2-A689-956ED1DE71C7}" dt="2024-10-07T12:36:15.229" v="332" actId="255"/>
      <pc:docMkLst>
        <pc:docMk/>
      </pc:docMkLst>
      <pc:sldChg chg="addSp delSp modSp mod">
        <pc:chgData name="Vikas prajapati" userId="88351d9bd4d4f9a7" providerId="LiveId" clId="{81928B47-2B5F-4FC2-A689-956ED1DE71C7}" dt="2024-10-07T12:28:08.499" v="20" actId="14100"/>
        <pc:sldMkLst>
          <pc:docMk/>
          <pc:sldMk cId="965791913" sldId="258"/>
        </pc:sldMkLst>
        <pc:spChg chg="add del mod">
          <ac:chgData name="Vikas prajapati" userId="88351d9bd4d4f9a7" providerId="LiveId" clId="{81928B47-2B5F-4FC2-A689-956ED1DE71C7}" dt="2024-10-07T12:25:42.934" v="1" actId="478"/>
          <ac:spMkLst>
            <pc:docMk/>
            <pc:sldMk cId="965791913" sldId="258"/>
            <ac:spMk id="4" creationId="{147CBBA5-C1E9-6C5B-7D0D-FFBA57BBCE35}"/>
          </ac:spMkLst>
        </pc:spChg>
        <pc:picChg chg="add del mod">
          <ac:chgData name="Vikas prajapati" userId="88351d9bd4d4f9a7" providerId="LiveId" clId="{81928B47-2B5F-4FC2-A689-956ED1DE71C7}" dt="2024-10-07T12:27:36.906" v="12" actId="21"/>
          <ac:picMkLst>
            <pc:docMk/>
            <pc:sldMk cId="965791913" sldId="258"/>
            <ac:picMk id="6" creationId="{E14E254E-80FE-D06F-5074-23BEDBE86CCD}"/>
          </ac:picMkLst>
        </pc:picChg>
        <pc:picChg chg="add mod">
          <ac:chgData name="Vikas prajapati" userId="88351d9bd4d4f9a7" providerId="LiveId" clId="{81928B47-2B5F-4FC2-A689-956ED1DE71C7}" dt="2024-10-07T12:28:08.499" v="20" actId="14100"/>
          <ac:picMkLst>
            <pc:docMk/>
            <pc:sldMk cId="965791913" sldId="258"/>
            <ac:picMk id="7" creationId="{47F16724-8DB7-DF2A-54D8-965CE2549ABF}"/>
          </ac:picMkLst>
        </pc:picChg>
        <pc:picChg chg="del">
          <ac:chgData name="Vikas prajapati" userId="88351d9bd4d4f9a7" providerId="LiveId" clId="{81928B47-2B5F-4FC2-A689-956ED1DE71C7}" dt="2024-10-07T12:25:40.005" v="0" actId="478"/>
          <ac:picMkLst>
            <pc:docMk/>
            <pc:sldMk cId="965791913" sldId="258"/>
            <ac:picMk id="13" creationId="{96DC59C5-0D6B-B2B2-C629-D151CE90652D}"/>
          </ac:picMkLst>
        </pc:picChg>
      </pc:sldChg>
      <pc:sldChg chg="addSp delSp modSp mod">
        <pc:chgData name="Vikas prajapati" userId="88351d9bd4d4f9a7" providerId="LiveId" clId="{81928B47-2B5F-4FC2-A689-956ED1DE71C7}" dt="2024-10-07T12:29:19.914" v="24" actId="1076"/>
        <pc:sldMkLst>
          <pc:docMk/>
          <pc:sldMk cId="4264341782" sldId="260"/>
        </pc:sldMkLst>
        <pc:spChg chg="del">
          <ac:chgData name="Vikas prajapati" userId="88351d9bd4d4f9a7" providerId="LiveId" clId="{81928B47-2B5F-4FC2-A689-956ED1DE71C7}" dt="2024-10-07T12:26:25.513" v="8" actId="478"/>
          <ac:spMkLst>
            <pc:docMk/>
            <pc:sldMk cId="4264341782" sldId="260"/>
            <ac:spMk id="4" creationId="{2A900F5A-174A-6872-B547-09C854A6949A}"/>
          </ac:spMkLst>
        </pc:spChg>
        <pc:spChg chg="del">
          <ac:chgData name="Vikas prajapati" userId="88351d9bd4d4f9a7" providerId="LiveId" clId="{81928B47-2B5F-4FC2-A689-956ED1DE71C7}" dt="2024-10-07T12:26:23.027" v="7" actId="478"/>
          <ac:spMkLst>
            <pc:docMk/>
            <pc:sldMk cId="4264341782" sldId="260"/>
            <ac:spMk id="12" creationId="{E663F642-939A-837B-DD64-DC5F9C61E788}"/>
          </ac:spMkLst>
        </pc:spChg>
        <pc:picChg chg="add del mod">
          <ac:chgData name="Vikas prajapati" userId="88351d9bd4d4f9a7" providerId="LiveId" clId="{81928B47-2B5F-4FC2-A689-956ED1DE71C7}" dt="2024-10-07T12:27:32.837" v="10" actId="21"/>
          <ac:picMkLst>
            <pc:docMk/>
            <pc:sldMk cId="4264341782" sldId="260"/>
            <ac:picMk id="5" creationId="{47F16724-8DB7-DF2A-54D8-965CE2549ABF}"/>
          </ac:picMkLst>
        </pc:picChg>
        <pc:picChg chg="add mod">
          <ac:chgData name="Vikas prajapati" userId="88351d9bd4d4f9a7" providerId="LiveId" clId="{81928B47-2B5F-4FC2-A689-956ED1DE71C7}" dt="2024-10-07T12:29:19.914" v="24" actId="1076"/>
          <ac:picMkLst>
            <pc:docMk/>
            <pc:sldMk cId="4264341782" sldId="260"/>
            <ac:picMk id="7" creationId="{E0CC7C6D-8240-ABC5-00FA-DBD7B0ABC83E}"/>
          </ac:picMkLst>
        </pc:picChg>
      </pc:sldChg>
      <pc:sldChg chg="addSp delSp modSp mod">
        <pc:chgData name="Vikas prajapati" userId="88351d9bd4d4f9a7" providerId="LiveId" clId="{81928B47-2B5F-4FC2-A689-956ED1DE71C7}" dt="2024-10-07T12:30:21.820" v="31" actId="1076"/>
        <pc:sldMkLst>
          <pc:docMk/>
          <pc:sldMk cId="3961336739" sldId="262"/>
        </pc:sldMkLst>
        <pc:spChg chg="del">
          <ac:chgData name="Vikas prajapati" userId="88351d9bd4d4f9a7" providerId="LiveId" clId="{81928B47-2B5F-4FC2-A689-956ED1DE71C7}" dt="2024-10-07T12:28:00.280" v="18" actId="478"/>
          <ac:spMkLst>
            <pc:docMk/>
            <pc:sldMk cId="3961336739" sldId="262"/>
            <ac:spMk id="10" creationId="{7E29127B-6FE1-DDAD-0437-BB418005C5A7}"/>
          </ac:spMkLst>
        </pc:spChg>
        <pc:spChg chg="del">
          <ac:chgData name="Vikas prajapati" userId="88351d9bd4d4f9a7" providerId="LiveId" clId="{81928B47-2B5F-4FC2-A689-956ED1DE71C7}" dt="2024-10-07T12:27:57.404" v="17" actId="478"/>
          <ac:spMkLst>
            <pc:docMk/>
            <pc:sldMk cId="3961336739" sldId="262"/>
            <ac:spMk id="12" creationId="{46FCB3A5-67C1-425B-1F92-A17A3383B0A5}"/>
          </ac:spMkLst>
        </pc:spChg>
        <pc:picChg chg="add mod">
          <ac:chgData name="Vikas prajapati" userId="88351d9bd4d4f9a7" providerId="LiveId" clId="{81928B47-2B5F-4FC2-A689-956ED1DE71C7}" dt="2024-10-07T12:30:21.820" v="31" actId="1076"/>
          <ac:picMkLst>
            <pc:docMk/>
            <pc:sldMk cId="3961336739" sldId="262"/>
            <ac:picMk id="4" creationId="{77381937-47C2-F586-B44E-46726A02C4FA}"/>
          </ac:picMkLst>
        </pc:picChg>
      </pc:sldChg>
      <pc:sldChg chg="modSp mod">
        <pc:chgData name="Vikas prajapati" userId="88351d9bd4d4f9a7" providerId="LiveId" clId="{81928B47-2B5F-4FC2-A689-956ED1DE71C7}" dt="2024-10-07T12:32:48.264" v="45" actId="20577"/>
        <pc:sldMkLst>
          <pc:docMk/>
          <pc:sldMk cId="2422888794" sldId="263"/>
        </pc:sldMkLst>
        <pc:graphicFrameChg chg="mod modGraphic">
          <ac:chgData name="Vikas prajapati" userId="88351d9bd4d4f9a7" providerId="LiveId" clId="{81928B47-2B5F-4FC2-A689-956ED1DE71C7}" dt="2024-10-07T12:32:48.264" v="45" actId="20577"/>
          <ac:graphicFrameMkLst>
            <pc:docMk/>
            <pc:sldMk cId="2422888794" sldId="263"/>
            <ac:graphicFrameMk id="4" creationId="{9F9BF062-6531-0C9C-2724-5A43CB72475B}"/>
          </ac:graphicFrameMkLst>
        </pc:graphicFrameChg>
      </pc:sldChg>
      <pc:sldChg chg="addSp delSp modSp mod">
        <pc:chgData name="Vikas prajapati" userId="88351d9bd4d4f9a7" providerId="LiveId" clId="{81928B47-2B5F-4FC2-A689-956ED1DE71C7}" dt="2024-10-07T12:27:53.181" v="16" actId="1076"/>
        <pc:sldMkLst>
          <pc:docMk/>
          <pc:sldMk cId="2591419380" sldId="264"/>
        </pc:sldMkLst>
        <pc:spChg chg="del">
          <ac:chgData name="Vikas prajapati" userId="88351d9bd4d4f9a7" providerId="LiveId" clId="{81928B47-2B5F-4FC2-A689-956ED1DE71C7}" dt="2024-10-07T12:27:50.845" v="15" actId="478"/>
          <ac:spMkLst>
            <pc:docMk/>
            <pc:sldMk cId="2591419380" sldId="264"/>
            <ac:spMk id="4" creationId="{2A56089D-0EA4-27EB-82EC-1ED985F33880}"/>
          </ac:spMkLst>
        </pc:spChg>
        <pc:spChg chg="del">
          <ac:chgData name="Vikas prajapati" userId="88351d9bd4d4f9a7" providerId="LiveId" clId="{81928B47-2B5F-4FC2-A689-956ED1DE71C7}" dt="2024-10-07T12:27:45.974" v="14" actId="478"/>
          <ac:spMkLst>
            <pc:docMk/>
            <pc:sldMk cId="2591419380" sldId="264"/>
            <ac:spMk id="12" creationId="{B9994B59-9C1D-1774-87BE-1A1C5FCAB53B}"/>
          </ac:spMkLst>
        </pc:spChg>
        <pc:picChg chg="add mod">
          <ac:chgData name="Vikas prajapati" userId="88351d9bd4d4f9a7" providerId="LiveId" clId="{81928B47-2B5F-4FC2-A689-956ED1DE71C7}" dt="2024-10-07T12:27:53.181" v="16" actId="1076"/>
          <ac:picMkLst>
            <pc:docMk/>
            <pc:sldMk cId="2591419380" sldId="264"/>
            <ac:picMk id="6" creationId="{E14E254E-80FE-D06F-5074-23BEDBE86CCD}"/>
          </ac:picMkLst>
        </pc:picChg>
      </pc:sldChg>
      <pc:sldChg chg="modSp mod">
        <pc:chgData name="Vikas prajapati" userId="88351d9bd4d4f9a7" providerId="LiveId" clId="{81928B47-2B5F-4FC2-A689-956ED1DE71C7}" dt="2024-10-07T12:33:47.498" v="74" actId="20577"/>
        <pc:sldMkLst>
          <pc:docMk/>
          <pc:sldMk cId="1170118086" sldId="265"/>
        </pc:sldMkLst>
        <pc:graphicFrameChg chg="mod modGraphic">
          <ac:chgData name="Vikas prajapati" userId="88351d9bd4d4f9a7" providerId="LiveId" clId="{81928B47-2B5F-4FC2-A689-956ED1DE71C7}" dt="2024-10-07T12:33:47.498" v="74" actId="20577"/>
          <ac:graphicFrameMkLst>
            <pc:docMk/>
            <pc:sldMk cId="1170118086" sldId="265"/>
            <ac:graphicFrameMk id="4" creationId="{4E0DA1E2-1246-7A14-B614-D3A2BCE6BE5F}"/>
          </ac:graphicFrameMkLst>
        </pc:graphicFrameChg>
      </pc:sldChg>
      <pc:sldChg chg="addSp delSp modSp mod">
        <pc:chgData name="Vikas prajapati" userId="88351d9bd4d4f9a7" providerId="LiveId" clId="{81928B47-2B5F-4FC2-A689-956ED1DE71C7}" dt="2024-10-07T12:31:45" v="39" actId="14100"/>
        <pc:sldMkLst>
          <pc:docMk/>
          <pc:sldMk cId="440236363" sldId="266"/>
        </pc:sldMkLst>
        <pc:spChg chg="del">
          <ac:chgData name="Vikas prajapati" userId="88351d9bd4d4f9a7" providerId="LiveId" clId="{81928B47-2B5F-4FC2-A689-956ED1DE71C7}" dt="2024-10-07T12:30:57.500" v="33" actId="478"/>
          <ac:spMkLst>
            <pc:docMk/>
            <pc:sldMk cId="440236363" sldId="266"/>
            <ac:spMk id="4" creationId="{6B664D8B-A663-92B6-069E-15703AD5AF20}"/>
          </ac:spMkLst>
        </pc:spChg>
        <pc:spChg chg="del">
          <ac:chgData name="Vikas prajapati" userId="88351d9bd4d4f9a7" providerId="LiveId" clId="{81928B47-2B5F-4FC2-A689-956ED1DE71C7}" dt="2024-10-07T12:30:54.717" v="32" actId="478"/>
          <ac:spMkLst>
            <pc:docMk/>
            <pc:sldMk cId="440236363" sldId="266"/>
            <ac:spMk id="16" creationId="{BA7E30F6-4B4B-D59D-6FFA-5324AE197A20}"/>
          </ac:spMkLst>
        </pc:spChg>
        <pc:picChg chg="add mod">
          <ac:chgData name="Vikas prajapati" userId="88351d9bd4d4f9a7" providerId="LiveId" clId="{81928B47-2B5F-4FC2-A689-956ED1DE71C7}" dt="2024-10-07T12:31:45" v="39" actId="14100"/>
          <ac:picMkLst>
            <pc:docMk/>
            <pc:sldMk cId="440236363" sldId="266"/>
            <ac:picMk id="5" creationId="{BF91164D-0D87-C31A-5DA3-6F3526DD2BC3}"/>
          </ac:picMkLst>
        </pc:picChg>
      </pc:sldChg>
      <pc:sldChg chg="modSp mod">
        <pc:chgData name="Vikas prajapati" userId="88351d9bd4d4f9a7" providerId="LiveId" clId="{81928B47-2B5F-4FC2-A689-956ED1DE71C7}" dt="2024-10-07T12:36:15.229" v="332" actId="255"/>
        <pc:sldMkLst>
          <pc:docMk/>
          <pc:sldMk cId="3946142133" sldId="267"/>
        </pc:sldMkLst>
        <pc:spChg chg="mod">
          <ac:chgData name="Vikas prajapati" userId="88351d9bd4d4f9a7" providerId="LiveId" clId="{81928B47-2B5F-4FC2-A689-956ED1DE71C7}" dt="2024-10-07T12:36:15.229" v="332" actId="255"/>
          <ac:spMkLst>
            <pc:docMk/>
            <pc:sldMk cId="3946142133" sldId="267"/>
            <ac:spMk id="10" creationId="{646E21CF-5746-A79B-A208-F1ED388A89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8447F-E6E7-454F-8CE9-E10BC09D205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6393B-20B1-4087-A2AD-C37D0AA7BF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288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16393B-20B1-4087-A2AD-C37D0AA7BFF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553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00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079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619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789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7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7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69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925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10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610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832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9062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401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660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0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21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156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6170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tm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tm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tm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tm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tm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8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50" name="Freeform: Shape 49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D63DA-C268-E9C1-BD91-E1E6ACDDC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3600" b="0" i="0" u="sng" kern="1200" dirty="0">
                <a:solidFill>
                  <a:srgbClr val="FFFFFF"/>
                </a:solidFill>
                <a:highlight>
                  <a:srgbClr val="000000"/>
                </a:highlight>
                <a:latin typeface="+mj-lt"/>
                <a:ea typeface="+mj-ea"/>
                <a:cs typeface="+mj-cs"/>
              </a:rPr>
              <a:t>ME 609</a:t>
            </a:r>
            <a:br>
              <a:rPr lang="en-US" sz="3600" b="0" i="0" u="sng" kern="1200" dirty="0">
                <a:solidFill>
                  <a:srgbClr val="FFFFFF"/>
                </a:solidFill>
                <a:highlight>
                  <a:srgbClr val="000000"/>
                </a:highlight>
                <a:latin typeface="+mj-lt"/>
                <a:ea typeface="+mj-ea"/>
                <a:cs typeface="+mj-cs"/>
              </a:rPr>
            </a:br>
            <a:r>
              <a:rPr lang="en-US" sz="3600" b="0" i="0" u="sng" kern="1200" dirty="0">
                <a:solidFill>
                  <a:srgbClr val="FFFFFF"/>
                </a:solidFill>
                <a:highlight>
                  <a:srgbClr val="000000"/>
                </a:highlight>
                <a:latin typeface="+mj-lt"/>
                <a:ea typeface="+mj-ea"/>
                <a:cs typeface="+mj-cs"/>
              </a:rPr>
              <a:t>Programming Project</a:t>
            </a:r>
            <a:br>
              <a:rPr lang="en-US" sz="3600" b="0" i="0" u="sng" kern="1200" dirty="0">
                <a:solidFill>
                  <a:srgbClr val="FFFFFF"/>
                </a:solidFill>
                <a:highlight>
                  <a:srgbClr val="000000"/>
                </a:highlight>
                <a:latin typeface="+mj-lt"/>
                <a:ea typeface="+mj-ea"/>
                <a:cs typeface="+mj-cs"/>
              </a:rPr>
            </a:br>
            <a:r>
              <a:rPr lang="en-US" sz="3600" b="0" i="0" u="sng" kern="1200" dirty="0">
                <a:solidFill>
                  <a:srgbClr val="FFFFFF"/>
                </a:solidFill>
                <a:highlight>
                  <a:srgbClr val="000000"/>
                </a:highlight>
                <a:latin typeface="+mj-lt"/>
                <a:ea typeface="+mj-ea"/>
                <a:cs typeface="+mj-cs"/>
              </a:rPr>
              <a:t>Phase 2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EB0ABD7-344A-AA51-7AF2-C2DEFE650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all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MULTI-Variable Optimization Using 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CONJUGATE GRADIENT Method,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BOUNDING PHASE and GOLDEN SECTION SEARCH METHOD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                                                                                                                                                        Presented By: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                                                                                                                                                       Group - 35</a:t>
            </a:r>
          </a:p>
          <a:p>
            <a:pPr algn="l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+mj-lt"/>
                <a:ea typeface="+mj-ea"/>
                <a:cs typeface="+mj-cs"/>
              </a:rPr>
              <a:t>DUSHYANT Pratap </a:t>
            </a:r>
            <a:r>
              <a:rPr lang="en-US" dirty="0" err="1">
                <a:latin typeface="+mj-lt"/>
                <a:ea typeface="+mj-ea"/>
                <a:cs typeface="+mj-cs"/>
              </a:rPr>
              <a:t>singh</a:t>
            </a:r>
            <a:r>
              <a:rPr lang="en-US" dirty="0">
                <a:latin typeface="+mj-lt"/>
                <a:ea typeface="+mj-ea"/>
                <a:cs typeface="+mj-cs"/>
              </a:rPr>
              <a:t> - </a:t>
            </a:r>
            <a:r>
              <a:rPr lang="en-US">
                <a:latin typeface="+mj-lt"/>
                <a:ea typeface="+mj-ea"/>
                <a:cs typeface="+mj-cs"/>
              </a:rPr>
              <a:t>244103101                                                                                             </a:t>
            </a:r>
            <a:endParaRPr lang="en-US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23404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E4DB7D-3EA3-8C23-BC07-24331ACA5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4" y="443576"/>
            <a:ext cx="9252154" cy="10166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</a:pPr>
            <a:r>
              <a:rPr lang="en-IN" sz="2200" dirty="0">
                <a:solidFill>
                  <a:srgbClr val="EBEBEB"/>
                </a:solidFill>
                <a:latin typeface="+mn-lt"/>
              </a:rPr>
              <a:t>Result on different initial guess for Minimization :</a:t>
            </a:r>
            <a:br>
              <a:rPr lang="en-IN" sz="2200" dirty="0">
                <a:solidFill>
                  <a:srgbClr val="EBEBEB"/>
                </a:solidFill>
                <a:latin typeface="+mn-lt"/>
              </a:rPr>
            </a:br>
            <a:br>
              <a:rPr lang="en-IN" sz="1400" dirty="0">
                <a:solidFill>
                  <a:srgbClr val="EBEBEB"/>
                </a:solidFill>
                <a:latin typeface="+mn-lt"/>
              </a:rPr>
            </a:br>
            <a:r>
              <a:rPr lang="en-IN" sz="4400" dirty="0">
                <a:solidFill>
                  <a:srgbClr val="EBEBEB"/>
                </a:solidFill>
                <a:latin typeface="+mn-lt"/>
              </a:rPr>
              <a:t>1. Sum square function</a:t>
            </a:r>
            <a:br>
              <a:rPr lang="en-IN" sz="4400" dirty="0">
                <a:solidFill>
                  <a:srgbClr val="EBEBEB"/>
                </a:solidFill>
                <a:latin typeface="+mn-lt"/>
              </a:rPr>
            </a:br>
            <a:endParaRPr lang="en-IN" sz="4400" dirty="0">
              <a:solidFill>
                <a:srgbClr val="EBEBEB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6CE97B3A-D89C-8C8E-5626-B157B60FBC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7151697"/>
              </p:ext>
            </p:extLst>
          </p:nvPr>
        </p:nvGraphicFramePr>
        <p:xfrm>
          <a:off x="424544" y="2476884"/>
          <a:ext cx="11375572" cy="4228723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987314">
                  <a:extLst>
                    <a:ext uri="{9D8B030D-6E8A-4147-A177-3AD203B41FA5}">
                      <a16:colId xmlns:a16="http://schemas.microsoft.com/office/drawing/2014/main" val="2219613547"/>
                    </a:ext>
                  </a:extLst>
                </a:gridCol>
                <a:gridCol w="987314">
                  <a:extLst>
                    <a:ext uri="{9D8B030D-6E8A-4147-A177-3AD203B41FA5}">
                      <a16:colId xmlns:a16="http://schemas.microsoft.com/office/drawing/2014/main" val="1685053515"/>
                    </a:ext>
                  </a:extLst>
                </a:gridCol>
                <a:gridCol w="987314">
                  <a:extLst>
                    <a:ext uri="{9D8B030D-6E8A-4147-A177-3AD203B41FA5}">
                      <a16:colId xmlns:a16="http://schemas.microsoft.com/office/drawing/2014/main" val="2084925547"/>
                    </a:ext>
                  </a:extLst>
                </a:gridCol>
                <a:gridCol w="1103515">
                  <a:extLst>
                    <a:ext uri="{9D8B030D-6E8A-4147-A177-3AD203B41FA5}">
                      <a16:colId xmlns:a16="http://schemas.microsoft.com/office/drawing/2014/main" val="3610196707"/>
                    </a:ext>
                  </a:extLst>
                </a:gridCol>
                <a:gridCol w="1051791">
                  <a:extLst>
                    <a:ext uri="{9D8B030D-6E8A-4147-A177-3AD203B41FA5}">
                      <a16:colId xmlns:a16="http://schemas.microsoft.com/office/drawing/2014/main" val="2530602517"/>
                    </a:ext>
                  </a:extLst>
                </a:gridCol>
                <a:gridCol w="1262149">
                  <a:extLst>
                    <a:ext uri="{9D8B030D-6E8A-4147-A177-3AD203B41FA5}">
                      <a16:colId xmlns:a16="http://schemas.microsoft.com/office/drawing/2014/main" val="4154744855"/>
                    </a:ext>
                  </a:extLst>
                </a:gridCol>
                <a:gridCol w="773134">
                  <a:extLst>
                    <a:ext uri="{9D8B030D-6E8A-4147-A177-3AD203B41FA5}">
                      <a16:colId xmlns:a16="http://schemas.microsoft.com/office/drawing/2014/main" val="3699729207"/>
                    </a:ext>
                  </a:extLst>
                </a:gridCol>
                <a:gridCol w="773134">
                  <a:extLst>
                    <a:ext uri="{9D8B030D-6E8A-4147-A177-3AD203B41FA5}">
                      <a16:colId xmlns:a16="http://schemas.microsoft.com/office/drawing/2014/main" val="1115549602"/>
                    </a:ext>
                  </a:extLst>
                </a:gridCol>
                <a:gridCol w="773134">
                  <a:extLst>
                    <a:ext uri="{9D8B030D-6E8A-4147-A177-3AD203B41FA5}">
                      <a16:colId xmlns:a16="http://schemas.microsoft.com/office/drawing/2014/main" val="544006820"/>
                    </a:ext>
                  </a:extLst>
                </a:gridCol>
                <a:gridCol w="773134">
                  <a:extLst>
                    <a:ext uri="{9D8B030D-6E8A-4147-A177-3AD203B41FA5}">
                      <a16:colId xmlns:a16="http://schemas.microsoft.com/office/drawing/2014/main" val="999683504"/>
                    </a:ext>
                  </a:extLst>
                </a:gridCol>
                <a:gridCol w="773134">
                  <a:extLst>
                    <a:ext uri="{9D8B030D-6E8A-4147-A177-3AD203B41FA5}">
                      <a16:colId xmlns:a16="http://schemas.microsoft.com/office/drawing/2014/main" val="3423706516"/>
                    </a:ext>
                  </a:extLst>
                </a:gridCol>
                <a:gridCol w="921485">
                  <a:extLst>
                    <a:ext uri="{9D8B030D-6E8A-4147-A177-3AD203B41FA5}">
                      <a16:colId xmlns:a16="http://schemas.microsoft.com/office/drawing/2014/main" val="865287858"/>
                    </a:ext>
                  </a:extLst>
                </a:gridCol>
                <a:gridCol w="209020">
                  <a:extLst>
                    <a:ext uri="{9D8B030D-6E8A-4147-A177-3AD203B41FA5}">
                      <a16:colId xmlns:a16="http://schemas.microsoft.com/office/drawing/2014/main" val="3425028968"/>
                    </a:ext>
                  </a:extLst>
                </a:gridCol>
              </a:tblGrid>
              <a:tr h="324881">
                <a:tc gridSpan="13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Sum Squares Function</a:t>
                      </a:r>
                      <a:endParaRPr lang="en-IN" sz="1400" b="0" i="0" u="none" strike="noStrike" dirty="0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4" marR="7814" marT="7814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733024"/>
                  </a:ext>
                </a:extLst>
              </a:tr>
              <a:tr h="324881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Initial Guess</a:t>
                      </a:r>
                      <a:endParaRPr lang="en-IN" sz="1400" b="0" i="0" u="none" strike="noStrike" dirty="0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4" marR="7814" marT="7814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4" marR="7814" marT="7814" marB="0"/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Optimum Value</a:t>
                      </a:r>
                      <a:endParaRPr lang="en-IN" sz="1400" b="0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814" marR="7814" marT="7814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 </a:t>
                      </a:r>
                      <a:endParaRPr lang="en-IN" sz="1400" b="0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extLst>
                  <a:ext uri="{0D108BD9-81ED-4DB2-BD59-A6C34878D82A}">
                    <a16:rowId xmlns:a16="http://schemas.microsoft.com/office/drawing/2014/main" val="2905557395"/>
                  </a:ext>
                </a:extLst>
              </a:tr>
              <a:tr h="3248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x1</a:t>
                      </a:r>
                      <a:endParaRPr lang="en-IN" sz="1400" b="1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x2</a:t>
                      </a:r>
                      <a:endParaRPr lang="en-IN" sz="1400" b="1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x3</a:t>
                      </a:r>
                      <a:endParaRPr lang="en-IN" sz="1400" b="1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x4</a:t>
                      </a:r>
                      <a:endParaRPr lang="en-IN" sz="1400" b="1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x5</a:t>
                      </a:r>
                      <a:endParaRPr lang="en-IN" sz="1400" b="1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400" u="none" strike="noStrike">
                          <a:effectLst/>
                        </a:rPr>
                        <a:t>Iteration</a:t>
                      </a:r>
                      <a:endParaRPr lang="en-IN" sz="1400" b="1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x1*</a:t>
                      </a:r>
                      <a:endParaRPr lang="en-IN" sz="1400" b="1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x2*</a:t>
                      </a:r>
                      <a:endParaRPr lang="en-IN" sz="1400" b="1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x3*</a:t>
                      </a:r>
                      <a:endParaRPr lang="en-IN" sz="1400" b="1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x4*</a:t>
                      </a:r>
                      <a:endParaRPr lang="en-IN" sz="1400" b="1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x5*</a:t>
                      </a:r>
                      <a:endParaRPr lang="en-IN" sz="1400" b="1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f(x*)</a:t>
                      </a:r>
                      <a:endParaRPr lang="en-IN" sz="1400" b="1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1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extLst>
                  <a:ext uri="{0D108BD9-81ED-4DB2-BD59-A6C34878D82A}">
                    <a16:rowId xmlns:a16="http://schemas.microsoft.com/office/drawing/2014/main" val="1253327030"/>
                  </a:ext>
                </a:extLst>
              </a:tr>
              <a:tr h="3254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1.76271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-2.30554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4.635298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1.618643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-2.71399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extLst>
                  <a:ext uri="{0D108BD9-81ED-4DB2-BD59-A6C34878D82A}">
                    <a16:rowId xmlns:a16="http://schemas.microsoft.com/office/drawing/2014/main" val="3263073992"/>
                  </a:ext>
                </a:extLst>
              </a:tr>
              <a:tr h="3254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2.326477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0.69924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1.52114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4.97062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0.79393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extLst>
                  <a:ext uri="{0D108BD9-81ED-4DB2-BD59-A6C34878D82A}">
                    <a16:rowId xmlns:a16="http://schemas.microsoft.com/office/drawing/2014/main" val="2539270422"/>
                  </a:ext>
                </a:extLst>
              </a:tr>
              <a:tr h="3254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-1.16988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-0.90768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4.894056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4.880305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0.002656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extLst>
                  <a:ext uri="{0D108BD9-81ED-4DB2-BD59-A6C34878D82A}">
                    <a16:rowId xmlns:a16="http://schemas.microsoft.com/office/drawing/2014/main" val="2887583241"/>
                  </a:ext>
                </a:extLst>
              </a:tr>
              <a:tr h="3254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-0.77768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2.764616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2.089908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2.294601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-0.1661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extLst>
                  <a:ext uri="{0D108BD9-81ED-4DB2-BD59-A6C34878D82A}">
                    <a16:rowId xmlns:a16="http://schemas.microsoft.com/office/drawing/2014/main" val="2778716455"/>
                  </a:ext>
                </a:extLst>
              </a:tr>
              <a:tr h="3254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2.471794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0.467358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3.985278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-4.62686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-3.81934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extLst>
                  <a:ext uri="{0D108BD9-81ED-4DB2-BD59-A6C34878D82A}">
                    <a16:rowId xmlns:a16="http://schemas.microsoft.com/office/drawing/2014/main" val="1301898100"/>
                  </a:ext>
                </a:extLst>
              </a:tr>
              <a:tr h="3254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-1.7899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2.009905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2.104595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3.792772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1.208318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extLst>
                  <a:ext uri="{0D108BD9-81ED-4DB2-BD59-A6C34878D82A}">
                    <a16:rowId xmlns:a16="http://schemas.microsoft.com/office/drawing/2014/main" val="476479662"/>
                  </a:ext>
                </a:extLst>
              </a:tr>
              <a:tr h="3254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2.687113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-3.32651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0.412981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-3.86684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-1.22613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extLst>
                  <a:ext uri="{0D108BD9-81ED-4DB2-BD59-A6C34878D82A}">
                    <a16:rowId xmlns:a16="http://schemas.microsoft.com/office/drawing/2014/main" val="3716385831"/>
                  </a:ext>
                </a:extLst>
              </a:tr>
              <a:tr h="3254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-0.03078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0.947373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-4.31873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-3.29119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-4.28716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extLst>
                  <a:ext uri="{0D108BD9-81ED-4DB2-BD59-A6C34878D82A}">
                    <a16:rowId xmlns:a16="http://schemas.microsoft.com/office/drawing/2014/main" val="2140125667"/>
                  </a:ext>
                </a:extLst>
              </a:tr>
              <a:tr h="3254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4.663111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0.837994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-3.23588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-3.69308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3.769646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extLst>
                  <a:ext uri="{0D108BD9-81ED-4DB2-BD59-A6C34878D82A}">
                    <a16:rowId xmlns:a16="http://schemas.microsoft.com/office/drawing/2014/main" val="701570111"/>
                  </a:ext>
                </a:extLst>
              </a:tr>
              <a:tr h="32540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2.358041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-3.14838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-5.00156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-2.2521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2.743365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400" b="0" i="0" u="none" strike="noStrike" dirty="0">
                        <a:solidFill>
                          <a:schemeClr val="tx2">
                            <a:lumMod val="40000"/>
                            <a:lumOff val="6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14" marR="7814" marT="7814" marB="0" anchor="b"/>
                </a:tc>
                <a:extLst>
                  <a:ext uri="{0D108BD9-81ED-4DB2-BD59-A6C34878D82A}">
                    <a16:rowId xmlns:a16="http://schemas.microsoft.com/office/drawing/2014/main" val="2042614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805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C004C91-9324-4E94-BC28-856AE162D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5B562CD4-39C5-44ED-BD68-B789B305E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60C308-26B8-6675-CCB0-3F78B2620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807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GRAPHICAL PLOTS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F16724-8DB7-DF2A-54D8-965CE2549A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0257" y="2086146"/>
            <a:ext cx="6495833" cy="388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91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46185F-37A5-CBE0-DB07-436E2970F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ROSENBROCK FUNCTION</a:t>
            </a:r>
            <a:endParaRPr lang="en-IN" dirty="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84A7CE-9B5D-1373-EA09-7F019E127B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868687"/>
              </p:ext>
            </p:extLst>
          </p:nvPr>
        </p:nvGraphicFramePr>
        <p:xfrm>
          <a:off x="402771" y="2402308"/>
          <a:ext cx="11332029" cy="4129123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220633">
                  <a:extLst>
                    <a:ext uri="{9D8B030D-6E8A-4147-A177-3AD203B41FA5}">
                      <a16:colId xmlns:a16="http://schemas.microsoft.com/office/drawing/2014/main" val="1188533773"/>
                    </a:ext>
                  </a:extLst>
                </a:gridCol>
                <a:gridCol w="1220633">
                  <a:extLst>
                    <a:ext uri="{9D8B030D-6E8A-4147-A177-3AD203B41FA5}">
                      <a16:colId xmlns:a16="http://schemas.microsoft.com/office/drawing/2014/main" val="3994489641"/>
                    </a:ext>
                  </a:extLst>
                </a:gridCol>
                <a:gridCol w="1220633">
                  <a:extLst>
                    <a:ext uri="{9D8B030D-6E8A-4147-A177-3AD203B41FA5}">
                      <a16:colId xmlns:a16="http://schemas.microsoft.com/office/drawing/2014/main" val="924183059"/>
                    </a:ext>
                  </a:extLst>
                </a:gridCol>
                <a:gridCol w="1873662">
                  <a:extLst>
                    <a:ext uri="{9D8B030D-6E8A-4147-A177-3AD203B41FA5}">
                      <a16:colId xmlns:a16="http://schemas.microsoft.com/office/drawing/2014/main" val="1701100954"/>
                    </a:ext>
                  </a:extLst>
                </a:gridCol>
                <a:gridCol w="1434985">
                  <a:extLst>
                    <a:ext uri="{9D8B030D-6E8A-4147-A177-3AD203B41FA5}">
                      <a16:colId xmlns:a16="http://schemas.microsoft.com/office/drawing/2014/main" val="541913412"/>
                    </a:ext>
                  </a:extLst>
                </a:gridCol>
                <a:gridCol w="1309348">
                  <a:extLst>
                    <a:ext uri="{9D8B030D-6E8A-4147-A177-3AD203B41FA5}">
                      <a16:colId xmlns:a16="http://schemas.microsoft.com/office/drawing/2014/main" val="277425529"/>
                    </a:ext>
                  </a:extLst>
                </a:gridCol>
                <a:gridCol w="1649926">
                  <a:extLst>
                    <a:ext uri="{9D8B030D-6E8A-4147-A177-3AD203B41FA5}">
                      <a16:colId xmlns:a16="http://schemas.microsoft.com/office/drawing/2014/main" val="1684628718"/>
                    </a:ext>
                  </a:extLst>
                </a:gridCol>
                <a:gridCol w="1138543">
                  <a:extLst>
                    <a:ext uri="{9D8B030D-6E8A-4147-A177-3AD203B41FA5}">
                      <a16:colId xmlns:a16="http://schemas.microsoft.com/office/drawing/2014/main" val="3773366300"/>
                    </a:ext>
                  </a:extLst>
                </a:gridCol>
                <a:gridCol w="263666">
                  <a:extLst>
                    <a:ext uri="{9D8B030D-6E8A-4147-A177-3AD203B41FA5}">
                      <a16:colId xmlns:a16="http://schemas.microsoft.com/office/drawing/2014/main" val="1071430899"/>
                    </a:ext>
                  </a:extLst>
                </a:gridCol>
              </a:tblGrid>
              <a:tr h="332771"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Rosenrock Function</a:t>
                      </a:r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7" marR="8117" marT="8117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897907"/>
                  </a:ext>
                </a:extLst>
              </a:tr>
              <a:tr h="33277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Initial Guess</a:t>
                      </a:r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7" marR="8117" marT="8117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500" u="none" strike="noStrike">
                          <a:effectLst/>
                        </a:rPr>
                        <a:t> </a:t>
                      </a:r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7" marR="8117" marT="8117" marB="0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 dirty="0">
                          <a:effectLst/>
                        </a:rPr>
                        <a:t>Optimal Value</a:t>
                      </a:r>
                      <a:endParaRPr lang="en-IN" sz="15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7" marR="8117" marT="8117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 </a:t>
                      </a:r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500" u="none" strike="noStrike">
                          <a:effectLst/>
                        </a:rPr>
                        <a:t> </a:t>
                      </a:r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/>
                </a:tc>
                <a:extLst>
                  <a:ext uri="{0D108BD9-81ED-4DB2-BD59-A6C34878D82A}">
                    <a16:rowId xmlns:a16="http://schemas.microsoft.com/office/drawing/2014/main" val="4138514040"/>
                  </a:ext>
                </a:extLst>
              </a:tr>
              <a:tr h="33277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x1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x2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x3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500" u="none" strike="noStrike">
                          <a:effectLst/>
                        </a:rPr>
                        <a:t>Iteration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x1*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x2*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x3*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f(x*)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t"/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/>
                </a:tc>
                <a:extLst>
                  <a:ext uri="{0D108BD9-81ED-4DB2-BD59-A6C34878D82A}">
                    <a16:rowId xmlns:a16="http://schemas.microsoft.com/office/drawing/2014/main" val="3310411821"/>
                  </a:ext>
                </a:extLst>
              </a:tr>
              <a:tr h="313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-0.87334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-0.89984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-0.72159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0.999882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0.999765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0.99953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2339478495"/>
                  </a:ext>
                </a:extLst>
              </a:tr>
              <a:tr h="313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0.407575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1.72049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1.850494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1.000802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1146766657"/>
                  </a:ext>
                </a:extLst>
              </a:tr>
              <a:tr h="313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1.377355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-1.03709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0.214069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0.999818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0.999635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0.999267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884900905"/>
                  </a:ext>
                </a:extLst>
              </a:tr>
              <a:tr h="313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-0.25032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0.540079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-1.49186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1.00019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1.000381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1.000763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178138930"/>
                  </a:ext>
                </a:extLst>
              </a:tr>
              <a:tr h="313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-1.70574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-1.55911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0.099691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1.000035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1.000069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1.000137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1191717937"/>
                  </a:ext>
                </a:extLst>
              </a:tr>
              <a:tr h="313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0.4057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0.967342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0.72496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1.000045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2415960143"/>
                  </a:ext>
                </a:extLst>
              </a:tr>
              <a:tr h="313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0.019938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1.108346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-0.74796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0.999971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0.999941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0.999881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1979159591"/>
                  </a:ext>
                </a:extLst>
              </a:tr>
              <a:tr h="313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-0.65633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2.03175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-0.56921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1.000176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1.000353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1.000709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2471444696"/>
                  </a:ext>
                </a:extLst>
              </a:tr>
              <a:tr h="313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-0.52033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1.56011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-0.29007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1.000164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1.000329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1.000661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2251529952"/>
                  </a:ext>
                </a:extLst>
              </a:tr>
              <a:tr h="31308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1.673239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-0.3412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-0.3642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0.99992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0.999838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0.999677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2829526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0268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C004C91-9324-4E94-BC28-856AE162D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5B562CD4-39C5-44ED-BD68-B789B305E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010DE2-588E-0306-0AA5-09085676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807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GRAPHICAL PLOTS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CC7C6D-8240-ABC5-00FA-DBD7B0ABC8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5261" y="2384691"/>
            <a:ext cx="5973508" cy="359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341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3DC96-F891-7989-F28B-C13E7429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DIXON PRICE FUNCTION</a:t>
            </a:r>
            <a:endParaRPr lang="en-IN" dirty="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982DFA-C141-C23A-ED37-7019411E41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6926037"/>
              </p:ext>
            </p:extLst>
          </p:nvPr>
        </p:nvGraphicFramePr>
        <p:xfrm>
          <a:off x="522513" y="2402308"/>
          <a:ext cx="11179629" cy="417267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865549">
                  <a:extLst>
                    <a:ext uri="{9D8B030D-6E8A-4147-A177-3AD203B41FA5}">
                      <a16:colId xmlns:a16="http://schemas.microsoft.com/office/drawing/2014/main" val="2843316680"/>
                    </a:ext>
                  </a:extLst>
                </a:gridCol>
                <a:gridCol w="898913">
                  <a:extLst>
                    <a:ext uri="{9D8B030D-6E8A-4147-A177-3AD203B41FA5}">
                      <a16:colId xmlns:a16="http://schemas.microsoft.com/office/drawing/2014/main" val="2917264247"/>
                    </a:ext>
                  </a:extLst>
                </a:gridCol>
                <a:gridCol w="1049709">
                  <a:extLst>
                    <a:ext uri="{9D8B030D-6E8A-4147-A177-3AD203B41FA5}">
                      <a16:colId xmlns:a16="http://schemas.microsoft.com/office/drawing/2014/main" val="4139895005"/>
                    </a:ext>
                  </a:extLst>
                </a:gridCol>
                <a:gridCol w="1284336">
                  <a:extLst>
                    <a:ext uri="{9D8B030D-6E8A-4147-A177-3AD203B41FA5}">
                      <a16:colId xmlns:a16="http://schemas.microsoft.com/office/drawing/2014/main" val="3294230579"/>
                    </a:ext>
                  </a:extLst>
                </a:gridCol>
                <a:gridCol w="1473230">
                  <a:extLst>
                    <a:ext uri="{9D8B030D-6E8A-4147-A177-3AD203B41FA5}">
                      <a16:colId xmlns:a16="http://schemas.microsoft.com/office/drawing/2014/main" val="1418299748"/>
                    </a:ext>
                  </a:extLst>
                </a:gridCol>
                <a:gridCol w="1305675">
                  <a:extLst>
                    <a:ext uri="{9D8B030D-6E8A-4147-A177-3AD203B41FA5}">
                      <a16:colId xmlns:a16="http://schemas.microsoft.com/office/drawing/2014/main" val="2284097187"/>
                    </a:ext>
                  </a:extLst>
                </a:gridCol>
                <a:gridCol w="1060209">
                  <a:extLst>
                    <a:ext uri="{9D8B030D-6E8A-4147-A177-3AD203B41FA5}">
                      <a16:colId xmlns:a16="http://schemas.microsoft.com/office/drawing/2014/main" val="2187562295"/>
                    </a:ext>
                  </a:extLst>
                </a:gridCol>
                <a:gridCol w="935088">
                  <a:extLst>
                    <a:ext uri="{9D8B030D-6E8A-4147-A177-3AD203B41FA5}">
                      <a16:colId xmlns:a16="http://schemas.microsoft.com/office/drawing/2014/main" val="1953956230"/>
                    </a:ext>
                  </a:extLst>
                </a:gridCol>
                <a:gridCol w="1374465">
                  <a:extLst>
                    <a:ext uri="{9D8B030D-6E8A-4147-A177-3AD203B41FA5}">
                      <a16:colId xmlns:a16="http://schemas.microsoft.com/office/drawing/2014/main" val="1829343078"/>
                    </a:ext>
                  </a:extLst>
                </a:gridCol>
                <a:gridCol w="889612">
                  <a:extLst>
                    <a:ext uri="{9D8B030D-6E8A-4147-A177-3AD203B41FA5}">
                      <a16:colId xmlns:a16="http://schemas.microsoft.com/office/drawing/2014/main" val="997149347"/>
                    </a:ext>
                  </a:extLst>
                </a:gridCol>
                <a:gridCol w="42843">
                  <a:extLst>
                    <a:ext uri="{9D8B030D-6E8A-4147-A177-3AD203B41FA5}">
                      <a16:colId xmlns:a16="http://schemas.microsoft.com/office/drawing/2014/main" val="2650049968"/>
                    </a:ext>
                  </a:extLst>
                </a:gridCol>
              </a:tblGrid>
              <a:tr h="336280">
                <a:tc gridSpan="11"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 dirty="0">
                          <a:effectLst/>
                        </a:rPr>
                        <a:t>Dixon Price Function</a:t>
                      </a:r>
                      <a:endParaRPr lang="en-IN" sz="15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7" marR="8117" marT="8117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2967332"/>
                  </a:ext>
                </a:extLst>
              </a:tr>
              <a:tr h="336280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Initial Guess</a:t>
                      </a:r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7" marR="8117" marT="8117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 dirty="0">
                          <a:effectLst/>
                        </a:rPr>
                        <a:t> </a:t>
                      </a:r>
                      <a:endParaRPr lang="en-IN" sz="1500" b="0" i="0" u="none" strike="noStrike" dirty="0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7" marR="8117" marT="8117" marB="0" anchor="b"/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Optimal Value</a:t>
                      </a:r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7" marR="8117" marT="8117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 </a:t>
                      </a:r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 </a:t>
                      </a:r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3000557778"/>
                  </a:ext>
                </a:extLst>
              </a:tr>
              <a:tr h="3362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x1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x2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x3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x4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500" u="none" strike="noStrike">
                          <a:effectLst/>
                        </a:rPr>
                        <a:t>Iteration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x1*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x2*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x3*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x4*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u="none" strike="noStrike">
                          <a:effectLst/>
                        </a:rPr>
                        <a:t>f(x*)</a:t>
                      </a:r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t"/>
                      <a:endParaRPr lang="en-IN" sz="15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/>
                </a:tc>
                <a:extLst>
                  <a:ext uri="{0D108BD9-81ED-4DB2-BD59-A6C34878D82A}">
                    <a16:rowId xmlns:a16="http://schemas.microsoft.com/office/drawing/2014/main" val="1262736323"/>
                  </a:ext>
                </a:extLst>
              </a:tr>
              <a:tr h="316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7.665334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-7.90704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-5.9331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-4.08307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0.999897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0.707064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0.594607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0.545265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2024825081"/>
                  </a:ext>
                </a:extLst>
              </a:tr>
              <a:tr h="316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-4.0849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-5.01816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0.884732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-6.18152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0.999896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0.707054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0.594576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0.545244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3825698528"/>
                  </a:ext>
                </a:extLst>
              </a:tr>
              <a:tr h="316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-8.74203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4.77279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-4.53902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4.025086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0.999809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0.707032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0.594588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0.54524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4175008325"/>
                  </a:ext>
                </a:extLst>
              </a:tr>
              <a:tr h="316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9.445784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-8.08771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-3.64422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-7.86493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0.999829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0.707041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0.59458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0.545234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3749786293"/>
                  </a:ext>
                </a:extLst>
              </a:tr>
              <a:tr h="316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-8.80795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-1.78991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-2.55409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-4.88754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1.000185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0.707183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0.594664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0.545289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560259117"/>
                  </a:ext>
                </a:extLst>
              </a:tr>
              <a:tr h="316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6.428724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0.961028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7.929014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5.121921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0.999586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0.706944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0.594527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0.545216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2332008072"/>
                  </a:ext>
                </a:extLst>
              </a:tr>
              <a:tr h="316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1.990112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-8.02484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5.54857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-1.00009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0.999948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0.707079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0.594584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0.545257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978936638"/>
                  </a:ext>
                </a:extLst>
              </a:tr>
              <a:tr h="316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6.726585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-7.38884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-7.42363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0.707724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1.000024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0.707126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0.594624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0.545265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4242635622"/>
                  </a:ext>
                </a:extLst>
              </a:tr>
              <a:tr h="316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7.313761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5.002289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-5.98071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-2.69021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1.000097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0.707145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0.594605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0.54525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1231570159"/>
                  </a:ext>
                </a:extLst>
              </a:tr>
              <a:tr h="316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1.861324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-6.26881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-7.88629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-4.00983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0.999993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0.707113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0.594614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0.54526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4001710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9838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C004C91-9324-4E94-BC28-856AE162D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5B562CD4-39C5-44ED-BD68-B789B305E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162736-0C29-A280-20F0-ECAB23DB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807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GRAPHICAL PLOTS</a:t>
            </a:r>
          </a:p>
        </p:txBody>
      </p:sp>
      <p:pic>
        <p:nvPicPr>
          <p:cNvPr id="4" name="Picture 3" descr="A graph with a line&#10;&#10;Description automatically generated">
            <a:extLst>
              <a:ext uri="{FF2B5EF4-FFF2-40B4-BE49-F238E27FC236}">
                <a16:creationId xmlns:a16="http://schemas.microsoft.com/office/drawing/2014/main" id="{77381937-47C2-F586-B44E-46726A02C4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1105" y="1935266"/>
            <a:ext cx="6414659" cy="381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36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D9C2D-79EC-B1D4-6699-EEA8D2D25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TRID FUNCTION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9BF062-6531-0C9C-2724-5A43CB7247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7639102"/>
              </p:ext>
            </p:extLst>
          </p:nvPr>
        </p:nvGraphicFramePr>
        <p:xfrm>
          <a:off x="648931" y="2476885"/>
          <a:ext cx="11074984" cy="3989236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696853">
                  <a:extLst>
                    <a:ext uri="{9D8B030D-6E8A-4147-A177-3AD203B41FA5}">
                      <a16:colId xmlns:a16="http://schemas.microsoft.com/office/drawing/2014/main" val="2984401365"/>
                    </a:ext>
                  </a:extLst>
                </a:gridCol>
                <a:gridCol w="696854">
                  <a:extLst>
                    <a:ext uri="{9D8B030D-6E8A-4147-A177-3AD203B41FA5}">
                      <a16:colId xmlns:a16="http://schemas.microsoft.com/office/drawing/2014/main" val="2758802550"/>
                    </a:ext>
                  </a:extLst>
                </a:gridCol>
                <a:gridCol w="696854">
                  <a:extLst>
                    <a:ext uri="{9D8B030D-6E8A-4147-A177-3AD203B41FA5}">
                      <a16:colId xmlns:a16="http://schemas.microsoft.com/office/drawing/2014/main" val="3616297029"/>
                    </a:ext>
                  </a:extLst>
                </a:gridCol>
                <a:gridCol w="696854">
                  <a:extLst>
                    <a:ext uri="{9D8B030D-6E8A-4147-A177-3AD203B41FA5}">
                      <a16:colId xmlns:a16="http://schemas.microsoft.com/office/drawing/2014/main" val="3346233504"/>
                    </a:ext>
                  </a:extLst>
                </a:gridCol>
                <a:gridCol w="696854">
                  <a:extLst>
                    <a:ext uri="{9D8B030D-6E8A-4147-A177-3AD203B41FA5}">
                      <a16:colId xmlns:a16="http://schemas.microsoft.com/office/drawing/2014/main" val="4023125637"/>
                    </a:ext>
                  </a:extLst>
                </a:gridCol>
                <a:gridCol w="696854">
                  <a:extLst>
                    <a:ext uri="{9D8B030D-6E8A-4147-A177-3AD203B41FA5}">
                      <a16:colId xmlns:a16="http://schemas.microsoft.com/office/drawing/2014/main" val="921810316"/>
                    </a:ext>
                  </a:extLst>
                </a:gridCol>
                <a:gridCol w="745233">
                  <a:extLst>
                    <a:ext uri="{9D8B030D-6E8A-4147-A177-3AD203B41FA5}">
                      <a16:colId xmlns:a16="http://schemas.microsoft.com/office/drawing/2014/main" val="3844541787"/>
                    </a:ext>
                  </a:extLst>
                </a:gridCol>
                <a:gridCol w="812773">
                  <a:extLst>
                    <a:ext uri="{9D8B030D-6E8A-4147-A177-3AD203B41FA5}">
                      <a16:colId xmlns:a16="http://schemas.microsoft.com/office/drawing/2014/main" val="1167385633"/>
                    </a:ext>
                  </a:extLst>
                </a:gridCol>
                <a:gridCol w="811690">
                  <a:extLst>
                    <a:ext uri="{9D8B030D-6E8A-4147-A177-3AD203B41FA5}">
                      <a16:colId xmlns:a16="http://schemas.microsoft.com/office/drawing/2014/main" val="2972714668"/>
                    </a:ext>
                  </a:extLst>
                </a:gridCol>
                <a:gridCol w="696854">
                  <a:extLst>
                    <a:ext uri="{9D8B030D-6E8A-4147-A177-3AD203B41FA5}">
                      <a16:colId xmlns:a16="http://schemas.microsoft.com/office/drawing/2014/main" val="2010800345"/>
                    </a:ext>
                  </a:extLst>
                </a:gridCol>
                <a:gridCol w="882102">
                  <a:extLst>
                    <a:ext uri="{9D8B030D-6E8A-4147-A177-3AD203B41FA5}">
                      <a16:colId xmlns:a16="http://schemas.microsoft.com/office/drawing/2014/main" val="3598959971"/>
                    </a:ext>
                  </a:extLst>
                </a:gridCol>
                <a:gridCol w="978171">
                  <a:extLst>
                    <a:ext uri="{9D8B030D-6E8A-4147-A177-3AD203B41FA5}">
                      <a16:colId xmlns:a16="http://schemas.microsoft.com/office/drawing/2014/main" val="3431165985"/>
                    </a:ext>
                  </a:extLst>
                </a:gridCol>
                <a:gridCol w="1127508">
                  <a:extLst>
                    <a:ext uri="{9D8B030D-6E8A-4147-A177-3AD203B41FA5}">
                      <a16:colId xmlns:a16="http://schemas.microsoft.com/office/drawing/2014/main" val="3692521255"/>
                    </a:ext>
                  </a:extLst>
                </a:gridCol>
                <a:gridCol w="688833">
                  <a:extLst>
                    <a:ext uri="{9D8B030D-6E8A-4147-A177-3AD203B41FA5}">
                      <a16:colId xmlns:a16="http://schemas.microsoft.com/office/drawing/2014/main" val="2892356736"/>
                    </a:ext>
                  </a:extLst>
                </a:gridCol>
                <a:gridCol w="150697">
                  <a:extLst>
                    <a:ext uri="{9D8B030D-6E8A-4147-A177-3AD203B41FA5}">
                      <a16:colId xmlns:a16="http://schemas.microsoft.com/office/drawing/2014/main" val="819458859"/>
                    </a:ext>
                  </a:extLst>
                </a:gridCol>
              </a:tblGrid>
              <a:tr h="321242">
                <a:tc gridSpan="15"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Trid</a:t>
                      </a:r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 Function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9" marR="6699" marT="6699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004472"/>
                  </a:ext>
                </a:extLst>
              </a:tr>
              <a:tr h="321242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Initial Guess</a:t>
                      </a:r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9" marR="6699" marT="6699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9" marR="6699" marT="6699" marB="0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Optimum Value</a:t>
                      </a:r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9" marR="6699" marT="6699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99" marR="6699" marT="6699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/>
                </a:tc>
                <a:extLst>
                  <a:ext uri="{0D108BD9-81ED-4DB2-BD59-A6C34878D82A}">
                    <a16:rowId xmlns:a16="http://schemas.microsoft.com/office/drawing/2014/main" val="3582560682"/>
                  </a:ext>
                </a:extLst>
              </a:tr>
              <a:tr h="32124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1" u="none" strike="noStrike"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lang="en-IN" sz="13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1" u="none" strike="noStrike"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lang="en-IN" sz="13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1" u="none" strike="noStrike">
                          <a:solidFill>
                            <a:schemeClr val="tx1"/>
                          </a:solidFill>
                          <a:effectLst/>
                        </a:rPr>
                        <a:t>x3</a:t>
                      </a:r>
                      <a:endParaRPr lang="en-IN" sz="13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1" u="none" strike="noStrike">
                          <a:solidFill>
                            <a:schemeClr val="tx1"/>
                          </a:solidFill>
                          <a:effectLst/>
                        </a:rPr>
                        <a:t>x4</a:t>
                      </a:r>
                      <a:endParaRPr lang="en-IN" sz="13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1" u="none" strike="noStrike">
                          <a:solidFill>
                            <a:schemeClr val="tx1"/>
                          </a:solidFill>
                          <a:effectLst/>
                        </a:rPr>
                        <a:t>x5</a:t>
                      </a:r>
                      <a:endParaRPr lang="en-IN" sz="13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1" u="none" strike="noStrike">
                          <a:solidFill>
                            <a:schemeClr val="tx1"/>
                          </a:solidFill>
                          <a:effectLst/>
                        </a:rPr>
                        <a:t>x6</a:t>
                      </a:r>
                      <a:endParaRPr lang="en-IN" sz="13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300" b="1" u="none" strike="noStrike">
                          <a:solidFill>
                            <a:schemeClr val="tx1"/>
                          </a:solidFill>
                          <a:effectLst/>
                        </a:rPr>
                        <a:t>Iteration</a:t>
                      </a:r>
                      <a:endParaRPr lang="en-IN" sz="13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1" u="none" strike="noStrike">
                          <a:solidFill>
                            <a:schemeClr val="tx1"/>
                          </a:solidFill>
                          <a:effectLst/>
                        </a:rPr>
                        <a:t>x1*</a:t>
                      </a:r>
                      <a:endParaRPr lang="en-IN" sz="13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1" u="none" strike="noStrike">
                          <a:solidFill>
                            <a:schemeClr val="tx1"/>
                          </a:solidFill>
                          <a:effectLst/>
                        </a:rPr>
                        <a:t>x2*</a:t>
                      </a:r>
                      <a:endParaRPr lang="en-IN" sz="13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1" u="none" strike="noStrike">
                          <a:solidFill>
                            <a:schemeClr val="tx1"/>
                          </a:solidFill>
                          <a:effectLst/>
                        </a:rPr>
                        <a:t>x3*</a:t>
                      </a:r>
                      <a:endParaRPr lang="en-IN" sz="13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1" u="none" strike="noStrike">
                          <a:solidFill>
                            <a:schemeClr val="tx1"/>
                          </a:solidFill>
                          <a:effectLst/>
                        </a:rPr>
                        <a:t>x4*</a:t>
                      </a:r>
                      <a:endParaRPr lang="en-IN" sz="13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1" u="none" strike="noStrike">
                          <a:solidFill>
                            <a:schemeClr val="tx1"/>
                          </a:solidFill>
                          <a:effectLst/>
                        </a:rPr>
                        <a:t>x5*</a:t>
                      </a:r>
                      <a:endParaRPr lang="en-IN" sz="13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1" u="none" strike="noStrike">
                          <a:solidFill>
                            <a:schemeClr val="tx1"/>
                          </a:solidFill>
                          <a:effectLst/>
                        </a:rPr>
                        <a:t>x6*</a:t>
                      </a:r>
                      <a:endParaRPr lang="en-IN" sz="13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1" u="none" strike="noStrike">
                          <a:solidFill>
                            <a:schemeClr val="tx1"/>
                          </a:solidFill>
                          <a:effectLst/>
                        </a:rPr>
                        <a:t>f(x*)</a:t>
                      </a:r>
                      <a:endParaRPr lang="en-IN" sz="13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tc>
                  <a:txBody>
                    <a:bodyPr/>
                    <a:lstStyle/>
                    <a:p>
                      <a:pPr algn="ctr" fontAlgn="t"/>
                      <a:endParaRPr lang="en-IN" sz="13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/>
                </a:tc>
                <a:extLst>
                  <a:ext uri="{0D108BD9-81ED-4DB2-BD59-A6C34878D82A}">
                    <a16:rowId xmlns:a16="http://schemas.microsoft.com/office/drawing/2014/main" val="3875008993"/>
                  </a:ext>
                </a:extLst>
              </a:tr>
              <a:tr h="3025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15.9032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12.55226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2.980682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18.52022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-24.4552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21.22733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6.000128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9.999964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11.99998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12.00015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10.00019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5.999946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-50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extLst>
                  <a:ext uri="{0D108BD9-81ED-4DB2-BD59-A6C34878D82A}">
                    <a16:rowId xmlns:a16="http://schemas.microsoft.com/office/drawing/2014/main" val="2159076634"/>
                  </a:ext>
                </a:extLst>
              </a:tr>
              <a:tr h="3025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-26.9821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-3.02023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-4.29029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-29.6893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-17.7863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-16.8898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5.999485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9.998989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11.99894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11.99886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9.999122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5.999506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-50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extLst>
                  <a:ext uri="{0D108BD9-81ED-4DB2-BD59-A6C34878D82A}">
                    <a16:rowId xmlns:a16="http://schemas.microsoft.com/office/drawing/2014/main" val="3002328229"/>
                  </a:ext>
                </a:extLst>
              </a:tr>
              <a:tr h="3025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24.2201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-19.2519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31.56139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35.48802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-18.0566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29.88702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6.000146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10.00031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12.0004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12.00044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10.00033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6.000209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-50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extLst>
                  <a:ext uri="{0D108BD9-81ED-4DB2-BD59-A6C34878D82A}">
                    <a16:rowId xmlns:a16="http://schemas.microsoft.com/office/drawing/2014/main" val="1341593503"/>
                  </a:ext>
                </a:extLst>
              </a:tr>
              <a:tr h="3025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-23.3873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-26.3515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-14.765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-14.598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3.134495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-5.80425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5.999836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9.999973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12.00013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11.99982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9.999935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6.000115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-50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extLst>
                  <a:ext uri="{0D108BD9-81ED-4DB2-BD59-A6C34878D82A}">
                    <a16:rowId xmlns:a16="http://schemas.microsoft.com/office/drawing/2014/main" val="1848003752"/>
                  </a:ext>
                </a:extLst>
              </a:tr>
              <a:tr h="3025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16.14051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-4.05738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35.76928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-14.5518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16.38441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-14.6507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6.000224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10.00009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11.99991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11.99963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9.999822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5.999935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-50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extLst>
                  <a:ext uri="{0D108BD9-81ED-4DB2-BD59-A6C34878D82A}">
                    <a16:rowId xmlns:a16="http://schemas.microsoft.com/office/drawing/2014/main" val="1590575483"/>
                  </a:ext>
                </a:extLst>
              </a:tr>
              <a:tr h="3025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30.29353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33.02701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22.76107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15.14072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35.09909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14.40901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6.000084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9.999994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11.99982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11.99956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10.00002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6.000259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-50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extLst>
                  <a:ext uri="{0D108BD9-81ED-4DB2-BD59-A6C34878D82A}">
                    <a16:rowId xmlns:a16="http://schemas.microsoft.com/office/drawing/2014/main" val="850514328"/>
                  </a:ext>
                </a:extLst>
              </a:tr>
              <a:tr h="3025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-0.55263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6.973235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-12.961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-35.1013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31.16147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30.82308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5.999941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9.999845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11.99992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12.00006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10.00021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6.000152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-50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extLst>
                  <a:ext uri="{0D108BD9-81ED-4DB2-BD59-A6C34878D82A}">
                    <a16:rowId xmlns:a16="http://schemas.microsoft.com/office/drawing/2014/main" val="1647997018"/>
                  </a:ext>
                </a:extLst>
              </a:tr>
              <a:tr h="3025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24.76064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13.69488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-15.7692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25.2946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-6.0108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-1.45354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5.999376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9.998717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11.99838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11.99862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9.999085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5.999402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-50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extLst>
                  <a:ext uri="{0D108BD9-81ED-4DB2-BD59-A6C34878D82A}">
                    <a16:rowId xmlns:a16="http://schemas.microsoft.com/office/drawing/2014/main" val="238406085"/>
                  </a:ext>
                </a:extLst>
              </a:tr>
              <a:tr h="3025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-33.2951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-15.1319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30.33308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12.13697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6.008606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8.920072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6.000213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10.00029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12.00059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12.0005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10.00032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6.000138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-50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extLst>
                  <a:ext uri="{0D108BD9-81ED-4DB2-BD59-A6C34878D82A}">
                    <a16:rowId xmlns:a16="http://schemas.microsoft.com/office/drawing/2014/main" val="3770168209"/>
                  </a:ext>
                </a:extLst>
              </a:tr>
              <a:tr h="3025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-10.6977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-7.20615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-12.1238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2.101749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20.59011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-1.12613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6.000026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9.999956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11.99963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11.99937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9.99939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5.999747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-50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99" marR="6699" marT="6699" marB="0" anchor="b"/>
                </a:tc>
                <a:extLst>
                  <a:ext uri="{0D108BD9-81ED-4DB2-BD59-A6C34878D82A}">
                    <a16:rowId xmlns:a16="http://schemas.microsoft.com/office/drawing/2014/main" val="1015360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888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C004C91-9324-4E94-BC28-856AE162D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5B562CD4-39C5-44ED-BD68-B789B305E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9D704-4584-268A-242D-E8AC43F05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807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GRAPHICAL PLOTS</a:t>
            </a:r>
          </a:p>
        </p:txBody>
      </p:sp>
      <p:pic>
        <p:nvPicPr>
          <p:cNvPr id="6" name="Picture 5" descr="A graph with a line&#10;&#10;Description automatically generated">
            <a:extLst>
              <a:ext uri="{FF2B5EF4-FFF2-40B4-BE49-F238E27FC236}">
                <a16:creationId xmlns:a16="http://schemas.microsoft.com/office/drawing/2014/main" id="{E14E254E-80FE-D06F-5074-23BEDBE86C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0953" y="1935042"/>
            <a:ext cx="6751792" cy="403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19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AEA421-5F29-4BA7-9360-2501B5987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348F0CB-4904-4DEF-BDD4-ADEC2DCC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DC7C64-2A32-DDD5-5E4D-4BA21DDAE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ZAKHAROV FUNCTION</a:t>
            </a:r>
            <a:endParaRPr lang="en-IN" dirty="0">
              <a:solidFill>
                <a:srgbClr val="EBEB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3E1B8-79B3-49BB-8704-58E4AB1AF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B34D5F-2B87-438E-8236-69C6068D4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0DA1E2-1246-7A14-B614-D3A2BCE6BE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103114"/>
              </p:ext>
            </p:extLst>
          </p:nvPr>
        </p:nvGraphicFramePr>
        <p:xfrm>
          <a:off x="648929" y="2402308"/>
          <a:ext cx="10835499" cy="4140004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528681">
                  <a:extLst>
                    <a:ext uri="{9D8B030D-6E8A-4147-A177-3AD203B41FA5}">
                      <a16:colId xmlns:a16="http://schemas.microsoft.com/office/drawing/2014/main" val="187119054"/>
                    </a:ext>
                  </a:extLst>
                </a:gridCol>
                <a:gridCol w="2094731">
                  <a:extLst>
                    <a:ext uri="{9D8B030D-6E8A-4147-A177-3AD203B41FA5}">
                      <a16:colId xmlns:a16="http://schemas.microsoft.com/office/drawing/2014/main" val="1230260061"/>
                    </a:ext>
                  </a:extLst>
                </a:gridCol>
                <a:gridCol w="2121544">
                  <a:extLst>
                    <a:ext uri="{9D8B030D-6E8A-4147-A177-3AD203B41FA5}">
                      <a16:colId xmlns:a16="http://schemas.microsoft.com/office/drawing/2014/main" val="2610593387"/>
                    </a:ext>
                  </a:extLst>
                </a:gridCol>
                <a:gridCol w="1752442">
                  <a:extLst>
                    <a:ext uri="{9D8B030D-6E8A-4147-A177-3AD203B41FA5}">
                      <a16:colId xmlns:a16="http://schemas.microsoft.com/office/drawing/2014/main" val="942121240"/>
                    </a:ext>
                  </a:extLst>
                </a:gridCol>
                <a:gridCol w="1752442">
                  <a:extLst>
                    <a:ext uri="{9D8B030D-6E8A-4147-A177-3AD203B41FA5}">
                      <a16:colId xmlns:a16="http://schemas.microsoft.com/office/drawing/2014/main" val="3467412031"/>
                    </a:ext>
                  </a:extLst>
                </a:gridCol>
                <a:gridCol w="1288525">
                  <a:extLst>
                    <a:ext uri="{9D8B030D-6E8A-4147-A177-3AD203B41FA5}">
                      <a16:colId xmlns:a16="http://schemas.microsoft.com/office/drawing/2014/main" val="2972880763"/>
                    </a:ext>
                  </a:extLst>
                </a:gridCol>
                <a:gridCol w="297134">
                  <a:extLst>
                    <a:ext uri="{9D8B030D-6E8A-4147-A177-3AD203B41FA5}">
                      <a16:colId xmlns:a16="http://schemas.microsoft.com/office/drawing/2014/main" val="3387340888"/>
                    </a:ext>
                  </a:extLst>
                </a:gridCol>
              </a:tblGrid>
              <a:tr h="333648"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IN" sz="1500" b="0" u="none" strike="noStrike">
                          <a:solidFill>
                            <a:schemeClr val="tx1"/>
                          </a:solidFill>
                          <a:effectLst/>
                        </a:rPr>
                        <a:t>Zakharov Function</a:t>
                      </a:r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7" marR="8117" marT="8117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407489"/>
                  </a:ext>
                </a:extLst>
              </a:tr>
              <a:tr h="333648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500" b="0" u="none" strike="noStrike">
                          <a:solidFill>
                            <a:schemeClr val="tx1"/>
                          </a:solidFill>
                          <a:effectLst/>
                        </a:rPr>
                        <a:t>Initial Guess</a:t>
                      </a:r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7" marR="8117" marT="8117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500" b="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7" marR="8117" marT="8117" marB="0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IN" sz="1500" b="0" u="none" strike="noStrike">
                          <a:solidFill>
                            <a:schemeClr val="tx1"/>
                          </a:solidFill>
                          <a:effectLst/>
                        </a:rPr>
                        <a:t>Optimum Value</a:t>
                      </a:r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7" marR="8117" marT="8117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500" b="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/>
                </a:tc>
                <a:extLst>
                  <a:ext uri="{0D108BD9-81ED-4DB2-BD59-A6C34878D82A}">
                    <a16:rowId xmlns:a16="http://schemas.microsoft.com/office/drawing/2014/main" val="2744838375"/>
                  </a:ext>
                </a:extLst>
              </a:tr>
              <a:tr h="33364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u="none" strike="noStrike">
                          <a:solidFill>
                            <a:schemeClr val="tx1"/>
                          </a:solidFill>
                          <a:effectLst/>
                        </a:rPr>
                        <a:t>x1</a:t>
                      </a:r>
                      <a:endParaRPr lang="en-IN" sz="15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u="none" strike="noStrike">
                          <a:solidFill>
                            <a:schemeClr val="tx1"/>
                          </a:solidFill>
                          <a:effectLst/>
                        </a:rPr>
                        <a:t>x2</a:t>
                      </a:r>
                      <a:endParaRPr lang="en-IN" sz="15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500" b="1" u="none" strike="noStrike">
                          <a:solidFill>
                            <a:schemeClr val="tx1"/>
                          </a:solidFill>
                          <a:effectLst/>
                        </a:rPr>
                        <a:t>Iteration</a:t>
                      </a:r>
                      <a:endParaRPr lang="en-IN" sz="15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u="none" strike="noStrike">
                          <a:solidFill>
                            <a:schemeClr val="tx1"/>
                          </a:solidFill>
                          <a:effectLst/>
                        </a:rPr>
                        <a:t>x1*</a:t>
                      </a:r>
                      <a:endParaRPr lang="en-IN" sz="15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u="none" strike="noStrike">
                          <a:solidFill>
                            <a:schemeClr val="tx1"/>
                          </a:solidFill>
                          <a:effectLst/>
                        </a:rPr>
                        <a:t>x2*</a:t>
                      </a:r>
                      <a:endParaRPr lang="en-IN" sz="15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u="none" strike="noStrike">
                          <a:solidFill>
                            <a:schemeClr val="tx1"/>
                          </a:solidFill>
                          <a:effectLst/>
                        </a:rPr>
                        <a:t>f(x*)</a:t>
                      </a:r>
                      <a:endParaRPr lang="en-IN" sz="15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tc>
                  <a:txBody>
                    <a:bodyPr/>
                    <a:lstStyle/>
                    <a:p>
                      <a:pPr algn="ctr" fontAlgn="t"/>
                      <a:endParaRPr lang="en-IN" sz="15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/>
                </a:tc>
                <a:extLst>
                  <a:ext uri="{0D108BD9-81ED-4DB2-BD59-A6C34878D82A}">
                    <a16:rowId xmlns:a16="http://schemas.microsoft.com/office/drawing/2014/main" val="2949110625"/>
                  </a:ext>
                </a:extLst>
              </a:tr>
              <a:tr h="3139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5.649281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-2.88369</a:t>
                      </a:r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21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1607135823"/>
                  </a:ext>
                </a:extLst>
              </a:tr>
              <a:tr h="3139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7.092196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-4.10505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388807893"/>
                  </a:ext>
                </a:extLst>
              </a:tr>
              <a:tr h="3139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9.218116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0.204474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3413675322"/>
                  </a:ext>
                </a:extLst>
              </a:tr>
              <a:tr h="3139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6.422468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3.530686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381529924"/>
                  </a:ext>
                </a:extLst>
              </a:tr>
              <a:tr h="3139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6.484725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6.223792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3174856944"/>
                  </a:ext>
                </a:extLst>
              </a:tr>
              <a:tr h="3139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9.898831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3.475753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2218641865"/>
                  </a:ext>
                </a:extLst>
              </a:tr>
              <a:tr h="3139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-2.08075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2.06534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4212308837"/>
                  </a:ext>
                </a:extLst>
              </a:tr>
              <a:tr h="3139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-2.73309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0.270394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1493255217"/>
                  </a:ext>
                </a:extLst>
              </a:tr>
              <a:tr h="3139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8.174841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8.194067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3049331988"/>
                  </a:ext>
                </a:extLst>
              </a:tr>
              <a:tr h="31390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-3.16706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-0.61449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N" sz="13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5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17" marR="8117" marT="8117" marB="0" anchor="b"/>
                </a:tc>
                <a:extLst>
                  <a:ext uri="{0D108BD9-81ED-4DB2-BD59-A6C34878D82A}">
                    <a16:rowId xmlns:a16="http://schemas.microsoft.com/office/drawing/2014/main" val="2719702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118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C004C91-9324-4E94-BC28-856AE162D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5B562CD4-39C5-44ED-BD68-B789B305E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27E888-798A-3FEF-4B4B-93B9C27E3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807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GRAPHICAL PLOTS</a:t>
            </a:r>
          </a:p>
        </p:txBody>
      </p:sp>
      <p:pic>
        <p:nvPicPr>
          <p:cNvPr id="5" name="Picture 4" descr="A graph with a line&#10;&#10;Description automatically generated">
            <a:extLst>
              <a:ext uri="{FF2B5EF4-FFF2-40B4-BE49-F238E27FC236}">
                <a16:creationId xmlns:a16="http://schemas.microsoft.com/office/drawing/2014/main" id="{BF91164D-0D87-C31A-5DA3-6F3526DD2B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1655" y="1873196"/>
            <a:ext cx="7143246" cy="422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236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3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45" name="Freeform: Shape 44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61FEF-3CA1-D35A-4798-D6420F2BF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b="0" i="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6E21CF-5746-A79B-A208-F1ED388A8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3312" y="2763521"/>
            <a:ext cx="9857913" cy="180831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Marquart’s method is computationally expensive due to formation of Hessian matrix and inverse of it, but it takes less number of iterations to converge.</a:t>
            </a:r>
          </a:p>
        </p:txBody>
      </p:sp>
      <p:pic>
        <p:nvPicPr>
          <p:cNvPr id="22" name="Graphic 21" descr="Fingerprint">
            <a:extLst>
              <a:ext uri="{FF2B5EF4-FFF2-40B4-BE49-F238E27FC236}">
                <a16:creationId xmlns:a16="http://schemas.microsoft.com/office/drawing/2014/main" id="{E61FBCB9-899C-3AC6-A7E4-2C2B0EE69A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42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403</TotalTime>
  <Words>843</Words>
  <Application>Microsoft Office PowerPoint</Application>
  <PresentationFormat>Widescreen</PresentationFormat>
  <Paragraphs>600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Century Gothic</vt:lpstr>
      <vt:lpstr>Times New Roman</vt:lpstr>
      <vt:lpstr>Wingdings 3</vt:lpstr>
      <vt:lpstr>Ion</vt:lpstr>
      <vt:lpstr>ME 609 Programming Project Phase 2</vt:lpstr>
      <vt:lpstr>Result on different initial guess for Minimization :  1. Sum square function </vt:lpstr>
      <vt:lpstr>GRAPHICAL PLOTS</vt:lpstr>
      <vt:lpstr>2. ROSENBROCK FUNCTION</vt:lpstr>
      <vt:lpstr>GRAPHICAL PLOTS</vt:lpstr>
      <vt:lpstr>3. DIXON PRICE FUNCTION</vt:lpstr>
      <vt:lpstr>GRAPHICAL PLOTS</vt:lpstr>
      <vt:lpstr>4. TRID FUNCTION</vt:lpstr>
      <vt:lpstr>GRAPHICAL PLOTS</vt:lpstr>
      <vt:lpstr>5. ZAKHAROV FUNCTION</vt:lpstr>
      <vt:lpstr>GRAPHICAL PLOTS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609 Programming Project Phase 2</dc:title>
  <dc:creator>Yash Shewale</dc:creator>
  <cp:lastModifiedBy>DUSHYANT PRATAP SINGH</cp:lastModifiedBy>
  <cp:revision>17</cp:revision>
  <dcterms:created xsi:type="dcterms:W3CDTF">2024-10-05T05:41:41Z</dcterms:created>
  <dcterms:modified xsi:type="dcterms:W3CDTF">2025-11-02T17:16:42Z</dcterms:modified>
</cp:coreProperties>
</file>